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9"/>
  </p:notesMasterIdLst>
  <p:sldIdLst>
    <p:sldId id="1420" r:id="rId2"/>
    <p:sldId id="1467" r:id="rId3"/>
    <p:sldId id="1470" r:id="rId4"/>
    <p:sldId id="1469" r:id="rId5"/>
    <p:sldId id="1468" r:id="rId6"/>
    <p:sldId id="1463" r:id="rId7"/>
    <p:sldId id="1464" r:id="rId8"/>
    <p:sldId id="1471" r:id="rId9"/>
    <p:sldId id="1476" r:id="rId10"/>
    <p:sldId id="1474" r:id="rId11"/>
    <p:sldId id="1480" r:id="rId12"/>
    <p:sldId id="1473" r:id="rId13"/>
    <p:sldId id="1479" r:id="rId14"/>
    <p:sldId id="1472" r:id="rId15"/>
    <p:sldId id="1477" r:id="rId16"/>
    <p:sldId id="1423" r:id="rId17"/>
    <p:sldId id="1478" r:id="rId18"/>
  </p:sldIdLst>
  <p:sldSz cx="9144000" cy="5143500" type="screen16x9"/>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2018"/>
    <a:srgbClr val="F19E1F"/>
    <a:srgbClr val="FFFFFF"/>
    <a:srgbClr val="74AA2C"/>
    <a:srgbClr val="45A5ED"/>
    <a:srgbClr val="43B5A1"/>
    <a:srgbClr val="ADCD83"/>
    <a:srgbClr val="B080B9"/>
    <a:srgbClr val="1A6563"/>
    <a:srgbClr val="FFA1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6" autoAdjust="0"/>
    <p:restoredTop sz="92177" autoAdjust="0"/>
  </p:normalViewPr>
  <p:slideViewPr>
    <p:cSldViewPr snapToGrid="0">
      <p:cViewPr varScale="1">
        <p:scale>
          <a:sx n="142" d="100"/>
          <a:sy n="142" d="100"/>
        </p:scale>
        <p:origin x="60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4952F13-9DBF-47FC-8A14-BE01599F4F1E}" type="datetimeFigureOut">
              <a:rPr lang="fr-FR" smtClean="0"/>
              <a:t>08/06/2026</a:t>
            </a:fld>
            <a:endParaRPr lang="fr-FR" dirty="0"/>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38BEBD7-B5E9-41C8-A3F6-EA1EAD043521}" type="slidenum">
              <a:rPr lang="fr-FR" smtClean="0"/>
              <a:t>‹N°›</a:t>
            </a:fld>
            <a:endParaRPr lang="fr-FR" dirty="0"/>
          </a:p>
        </p:txBody>
      </p:sp>
    </p:spTree>
    <p:extLst>
      <p:ext uri="{BB962C8B-B14F-4D97-AF65-F5344CB8AC3E}">
        <p14:creationId xmlns:p14="http://schemas.microsoft.com/office/powerpoint/2010/main" val="4109992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Thylakoid</a:t>
            </a:r>
            <a:r>
              <a:rPr lang="fr-FR" dirty="0"/>
              <a:t> membrane, </a:t>
            </a:r>
            <a:r>
              <a:rPr lang="fr-FR" dirty="0" err="1"/>
              <a:t>where</a:t>
            </a:r>
            <a:r>
              <a:rPr lang="fr-FR" dirty="0"/>
              <a:t> the light </a:t>
            </a:r>
            <a:r>
              <a:rPr lang="fr-FR" dirty="0" err="1"/>
              <a:t>reactions</a:t>
            </a:r>
            <a:r>
              <a:rPr lang="fr-FR" dirty="0"/>
              <a:t> </a:t>
            </a:r>
            <a:r>
              <a:rPr lang="fr-FR" dirty="0" err="1"/>
              <a:t>is</a:t>
            </a:r>
            <a:r>
              <a:rPr lang="fr-FR" dirty="0"/>
              <a:t> </a:t>
            </a:r>
            <a:r>
              <a:rPr lang="fr-FR" dirty="0" err="1"/>
              <a:t>gonna</a:t>
            </a:r>
            <a:r>
              <a:rPr lang="fr-FR" dirty="0"/>
              <a:t> </a:t>
            </a:r>
            <a:r>
              <a:rPr lang="fr-FR" dirty="0" err="1"/>
              <a:t>happen</a:t>
            </a:r>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5</a:t>
            </a:fld>
            <a:endParaRPr lang="fr-FR" dirty="0"/>
          </a:p>
        </p:txBody>
      </p:sp>
    </p:spTree>
    <p:extLst>
      <p:ext uri="{BB962C8B-B14F-4D97-AF65-F5344CB8AC3E}">
        <p14:creationId xmlns:p14="http://schemas.microsoft.com/office/powerpoint/2010/main" val="3396424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6</a:t>
            </a:fld>
            <a:endParaRPr lang="fr-FR" dirty="0"/>
          </a:p>
        </p:txBody>
      </p:sp>
    </p:spTree>
    <p:extLst>
      <p:ext uri="{BB962C8B-B14F-4D97-AF65-F5344CB8AC3E}">
        <p14:creationId xmlns:p14="http://schemas.microsoft.com/office/powerpoint/2010/main" val="2662715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7</a:t>
            </a:fld>
            <a:endParaRPr lang="fr-FR" dirty="0"/>
          </a:p>
        </p:txBody>
      </p:sp>
    </p:spTree>
    <p:extLst>
      <p:ext uri="{BB962C8B-B14F-4D97-AF65-F5344CB8AC3E}">
        <p14:creationId xmlns:p14="http://schemas.microsoft.com/office/powerpoint/2010/main" val="239042674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3.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hyperlink" Target="mailto:mpolin@imedea.uib-csic.es" TargetMode="External"/><Relationship Id="rId5" Type="http://schemas.openxmlformats.org/officeDocument/2006/relationships/hyperlink" Target="mailto:ljami@imedea.uib-csic.es" TargetMode="External"/><Relationship Id="rId10" Type="http://schemas.openxmlformats.org/officeDocument/2006/relationships/image" Target="../media/image6.png"/><Relationship Id="rId4" Type="http://schemas.openxmlformats.org/officeDocument/2006/relationships/hyperlink" Target="mailto:antoine.allard@u-bordeaux.fr" TargetMode="External"/><Relationship Id="rId9"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3.svg"/><Relationship Id="rId4" Type="http://schemas.openxmlformats.org/officeDocument/2006/relationships/image" Target="../media/image9.jpeg"/><Relationship Id="rId9"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le 1"/>
          <p:cNvSpPr>
            <a:spLocks noGrp="1"/>
          </p:cNvSpPr>
          <p:nvPr>
            <p:ph type="ctrTitle"/>
          </p:nvPr>
        </p:nvSpPr>
        <p:spPr>
          <a:xfrm>
            <a:off x="620366" y="464212"/>
            <a:ext cx="7894984" cy="1033411"/>
          </a:xfrm>
        </p:spPr>
        <p:txBody>
          <a:bodyPr anchor="b">
            <a:normAutofit/>
          </a:bodyPr>
          <a:lstStyle>
            <a:lvl1pPr algn="ctr">
              <a:defRPr sz="3200">
                <a:solidFill>
                  <a:schemeClr val="tx2"/>
                </a:solidFill>
              </a:defRPr>
            </a:lvl1pPr>
          </a:lstStyle>
          <a:p>
            <a:r>
              <a:rPr lang="fr-FR" dirty="0"/>
              <a:t>Modifiez le style du titre</a:t>
            </a:r>
            <a:endParaRPr lang="en-US" dirty="0"/>
          </a:p>
        </p:txBody>
      </p:sp>
      <p:pic>
        <p:nvPicPr>
          <p:cNvPr id="9" name="Image 8">
            <a:extLst>
              <a:ext uri="{FF2B5EF4-FFF2-40B4-BE49-F238E27FC236}">
                <a16:creationId xmlns:a16="http://schemas.microsoft.com/office/drawing/2014/main" id="{A07664DA-E1C0-8593-DE6B-1E444F7334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103" t="11453" r="7966" b="19403"/>
          <a:stretch/>
        </p:blipFill>
        <p:spPr>
          <a:xfrm>
            <a:off x="881516" y="4259848"/>
            <a:ext cx="1642550" cy="535674"/>
          </a:xfrm>
          <a:prstGeom prst="rect">
            <a:avLst/>
          </a:prstGeom>
        </p:spPr>
      </p:pic>
      <p:pic>
        <p:nvPicPr>
          <p:cNvPr id="1026" name="Picture 2">
            <a:extLst>
              <a:ext uri="{FF2B5EF4-FFF2-40B4-BE49-F238E27FC236}">
                <a16:creationId xmlns:a16="http://schemas.microsoft.com/office/drawing/2014/main" id="{3C4B9AEB-730B-DE13-5458-6ABAE6CECEC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14317" y="4305694"/>
            <a:ext cx="1443358" cy="48982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necteur droit 11">
            <a:extLst>
              <a:ext uri="{FF2B5EF4-FFF2-40B4-BE49-F238E27FC236}">
                <a16:creationId xmlns:a16="http://schemas.microsoft.com/office/drawing/2014/main" id="{D4B1BB24-621A-2910-76ED-F9F0D9F4A01D}"/>
              </a:ext>
            </a:extLst>
          </p:cNvPr>
          <p:cNvCxnSpPr>
            <a:cxnSpLocks/>
          </p:cNvCxnSpPr>
          <p:nvPr userDrawn="1"/>
        </p:nvCxnSpPr>
        <p:spPr>
          <a:xfrm>
            <a:off x="283491" y="2365694"/>
            <a:ext cx="2" cy="660400"/>
          </a:xfrm>
          <a:prstGeom prst="line">
            <a:avLst/>
          </a:prstGeom>
          <a:ln w="28575">
            <a:solidFill>
              <a:srgbClr val="62003C"/>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CD64761D-CC09-2A26-8FCE-369C921BF9DC}"/>
              </a:ext>
            </a:extLst>
          </p:cNvPr>
          <p:cNvSpPr txBox="1"/>
          <p:nvPr userDrawn="1"/>
        </p:nvSpPr>
        <p:spPr>
          <a:xfrm>
            <a:off x="351934" y="2292581"/>
            <a:ext cx="8694686" cy="784830"/>
          </a:xfrm>
          <a:prstGeom prst="rect">
            <a:avLst/>
          </a:prstGeom>
          <a:noFill/>
        </p:spPr>
        <p:txBody>
          <a:bodyPr wrap="square" rtlCol="0" anchor="ctr">
            <a:spAutoFit/>
          </a:bodyPr>
          <a:lstStyle/>
          <a:p>
            <a:r>
              <a:rPr lang="fr-FR" sz="1500" dirty="0"/>
              <a:t>Antoine Allard, MCF, Université de Bordeaux, Laboratoire Ondes et Matière d’Aquitaine, CNRS UMR 5798</a:t>
            </a:r>
          </a:p>
          <a:p>
            <a:r>
              <a:rPr lang="fr-FR" sz="1500" dirty="0"/>
              <a:t>Ludovic </a:t>
            </a:r>
            <a:r>
              <a:rPr lang="fr-FR" sz="1500" dirty="0" err="1"/>
              <a:t>Jami</a:t>
            </a:r>
            <a:r>
              <a:rPr lang="fr-FR" sz="1500" dirty="0"/>
              <a:t>, PDRA, </a:t>
            </a:r>
            <a:r>
              <a:rPr lang="en-GB" sz="1500" dirty="0"/>
              <a:t>Mediterranean Institute for Advanced Studies, IMEDEA, UIB-CSIC, </a:t>
            </a:r>
            <a:r>
              <a:rPr lang="en-GB" sz="1500" dirty="0" err="1"/>
              <a:t>Esporles</a:t>
            </a:r>
            <a:r>
              <a:rPr lang="en-GB" sz="1500" dirty="0"/>
              <a:t>, Spain</a:t>
            </a:r>
            <a:endParaRPr lang="fr-FR" sz="1500" dirty="0"/>
          </a:p>
          <a:p>
            <a:r>
              <a:rPr lang="fr-FR" sz="1500" dirty="0"/>
              <a:t>Marco Polin, </a:t>
            </a:r>
            <a:r>
              <a:rPr lang="fr-FR" sz="1500" dirty="0" err="1"/>
              <a:t>Researcher</a:t>
            </a:r>
            <a:r>
              <a:rPr lang="fr-FR" sz="1500" dirty="0"/>
              <a:t>, </a:t>
            </a:r>
            <a:r>
              <a:rPr lang="en-GB" sz="1500" dirty="0"/>
              <a:t>Mediterranean Institute for Advanced Studies, IMEDEA, UIB-CSIC, </a:t>
            </a:r>
            <a:r>
              <a:rPr lang="en-GB" sz="1500" dirty="0" err="1"/>
              <a:t>Esporles</a:t>
            </a:r>
            <a:r>
              <a:rPr lang="en-GB" sz="1500" dirty="0"/>
              <a:t>, Spain</a:t>
            </a:r>
            <a:endParaRPr lang="fr-FR" sz="1500" dirty="0"/>
          </a:p>
        </p:txBody>
      </p:sp>
      <p:sp>
        <p:nvSpPr>
          <p:cNvPr id="20" name="ZoneTexte 19">
            <a:extLst>
              <a:ext uri="{FF2B5EF4-FFF2-40B4-BE49-F238E27FC236}">
                <a16:creationId xmlns:a16="http://schemas.microsoft.com/office/drawing/2014/main" id="{5449F85B-E9DA-E40D-49F1-415705FDAB85}"/>
              </a:ext>
            </a:extLst>
          </p:cNvPr>
          <p:cNvSpPr txBox="1"/>
          <p:nvPr userDrawn="1"/>
        </p:nvSpPr>
        <p:spPr>
          <a:xfrm>
            <a:off x="3633966" y="3271960"/>
            <a:ext cx="4518632" cy="784830"/>
          </a:xfrm>
          <a:prstGeom prst="rect">
            <a:avLst/>
          </a:prstGeom>
          <a:noFill/>
        </p:spPr>
        <p:txBody>
          <a:bodyPr wrap="square" rtlCol="0" anchor="ctr">
            <a:spAutoFit/>
          </a:bodyPr>
          <a:lstStyle/>
          <a:p>
            <a:r>
              <a:rPr lang="fr-FR" sz="1500" dirty="0">
                <a:hlinkClick r:id="rId4"/>
              </a:rPr>
              <a:t>antoine.allard@u-bordeaux.fr</a:t>
            </a:r>
            <a:endParaRPr lang="fr-FR" sz="1500" dirty="0"/>
          </a:p>
          <a:p>
            <a:r>
              <a:rPr lang="fr-FR" sz="1500" dirty="0">
                <a:hlinkClick r:id="rId5"/>
              </a:rPr>
              <a:t>ljami@imedea.uib-csic.es</a:t>
            </a:r>
            <a:r>
              <a:rPr lang="fr-FR" sz="1500" dirty="0"/>
              <a:t> &amp; </a:t>
            </a:r>
            <a:r>
              <a:rPr lang="fr-FR" sz="1500" dirty="0">
                <a:hlinkClick r:id="rId5"/>
              </a:rPr>
              <a:t>ludovic.jami@gmail.com</a:t>
            </a:r>
            <a:endParaRPr lang="fr-FR" sz="1500" dirty="0"/>
          </a:p>
          <a:p>
            <a:r>
              <a:rPr lang="fr-FR" sz="1500" dirty="0">
                <a:hlinkClick r:id="rId6"/>
              </a:rPr>
              <a:t>mpolin@imedea.uib-csic.es</a:t>
            </a:r>
            <a:r>
              <a:rPr lang="fr-FR" sz="1500" dirty="0"/>
              <a:t> </a:t>
            </a:r>
          </a:p>
        </p:txBody>
      </p:sp>
      <p:pic>
        <p:nvPicPr>
          <p:cNvPr id="22" name="Graphique 21" descr="Courrier">
            <a:extLst>
              <a:ext uri="{FF2B5EF4-FFF2-40B4-BE49-F238E27FC236}">
                <a16:creationId xmlns:a16="http://schemas.microsoft.com/office/drawing/2014/main" id="{BA017E6B-F63F-E440-C231-688FCE724A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75599" y="3457754"/>
            <a:ext cx="413043" cy="413243"/>
          </a:xfrm>
          <a:prstGeom prst="rect">
            <a:avLst/>
          </a:prstGeom>
        </p:spPr>
      </p:pic>
      <p:sp>
        <p:nvSpPr>
          <p:cNvPr id="10" name="Title 1">
            <a:extLst>
              <a:ext uri="{FF2B5EF4-FFF2-40B4-BE49-F238E27FC236}">
                <a16:creationId xmlns:a16="http://schemas.microsoft.com/office/drawing/2014/main" id="{0CE57E11-E230-4CCB-9377-CC7370E4327E}"/>
              </a:ext>
            </a:extLst>
          </p:cNvPr>
          <p:cNvSpPr txBox="1">
            <a:spLocks/>
          </p:cNvSpPr>
          <p:nvPr userDrawn="1"/>
        </p:nvSpPr>
        <p:spPr>
          <a:xfrm>
            <a:off x="0" y="0"/>
            <a:ext cx="8515350" cy="29700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100" kern="1200">
                <a:solidFill>
                  <a:schemeClr val="tx1"/>
                </a:solidFill>
                <a:latin typeface="+mj-lt"/>
                <a:ea typeface="+mj-ea"/>
                <a:cs typeface="+mj-cs"/>
              </a:defRPr>
            </a:lvl1pPr>
          </a:lstStyle>
          <a:p>
            <a:endParaRPr lang="en-US" dirty="0"/>
          </a:p>
        </p:txBody>
      </p:sp>
      <p:sp>
        <p:nvSpPr>
          <p:cNvPr id="11" name="Title 1">
            <a:extLst>
              <a:ext uri="{FF2B5EF4-FFF2-40B4-BE49-F238E27FC236}">
                <a16:creationId xmlns:a16="http://schemas.microsoft.com/office/drawing/2014/main" id="{21B80894-D726-4FC3-8CE2-A6F238F47B54}"/>
              </a:ext>
            </a:extLst>
          </p:cNvPr>
          <p:cNvSpPr txBox="1">
            <a:spLocks/>
          </p:cNvSpPr>
          <p:nvPr userDrawn="1"/>
        </p:nvSpPr>
        <p:spPr>
          <a:xfrm>
            <a:off x="0" y="-919"/>
            <a:ext cx="8515350" cy="29700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100" kern="1200">
                <a:solidFill>
                  <a:schemeClr val="tx1"/>
                </a:solidFill>
                <a:latin typeface="+mj-lt"/>
                <a:ea typeface="+mj-ea"/>
                <a:cs typeface="+mj-cs"/>
              </a:defRPr>
            </a:lvl1pPr>
          </a:lstStyle>
          <a:p>
            <a:r>
              <a:rPr lang="fr-FR" dirty="0"/>
              <a:t>MOB 8.0 – Workshop – May 28-30, 2026</a:t>
            </a:r>
            <a:endParaRPr lang="en-US" dirty="0"/>
          </a:p>
        </p:txBody>
      </p:sp>
      <p:pic>
        <p:nvPicPr>
          <p:cNvPr id="3" name="Image 2">
            <a:extLst>
              <a:ext uri="{FF2B5EF4-FFF2-40B4-BE49-F238E27FC236}">
                <a16:creationId xmlns:a16="http://schemas.microsoft.com/office/drawing/2014/main" id="{8F168667-E759-AAE1-DA80-EE10D2A7EA12}"/>
              </a:ext>
            </a:extLst>
          </p:cNvPr>
          <p:cNvPicPr>
            <a:picLocks noChangeAspect="1"/>
          </p:cNvPicPr>
          <p:nvPr userDrawn="1"/>
        </p:nvPicPr>
        <p:blipFill>
          <a:blip r:embed="rId8"/>
          <a:stretch>
            <a:fillRect/>
          </a:stretch>
        </p:blipFill>
        <p:spPr>
          <a:xfrm>
            <a:off x="82957" y="4259848"/>
            <a:ext cx="798559" cy="641617"/>
          </a:xfrm>
          <a:prstGeom prst="rect">
            <a:avLst/>
          </a:prstGeom>
        </p:spPr>
      </p:pic>
      <p:pic>
        <p:nvPicPr>
          <p:cNvPr id="4" name="Picture 3">
            <a:extLst>
              <a:ext uri="{FF2B5EF4-FFF2-40B4-BE49-F238E27FC236}">
                <a16:creationId xmlns:a16="http://schemas.microsoft.com/office/drawing/2014/main" id="{1E0F2794-CD3E-A6FE-1072-9BE55B6CB3AE}"/>
              </a:ext>
            </a:extLst>
          </p:cNvPr>
          <p:cNvPicPr>
            <a:picLocks noChangeAspect="1"/>
          </p:cNvPicPr>
          <p:nvPr userDrawn="1"/>
        </p:nvPicPr>
        <p:blipFill>
          <a:blip r:embed="rId9"/>
          <a:stretch>
            <a:fillRect/>
          </a:stretch>
        </p:blipFill>
        <p:spPr>
          <a:xfrm>
            <a:off x="4886327" y="4268504"/>
            <a:ext cx="2155372" cy="641617"/>
          </a:xfrm>
          <a:prstGeom prst="rect">
            <a:avLst/>
          </a:prstGeom>
        </p:spPr>
      </p:pic>
      <p:pic>
        <p:nvPicPr>
          <p:cNvPr id="7" name="Picture 6">
            <a:extLst>
              <a:ext uri="{FF2B5EF4-FFF2-40B4-BE49-F238E27FC236}">
                <a16:creationId xmlns:a16="http://schemas.microsoft.com/office/drawing/2014/main" id="{6287CBC1-848A-7E62-C179-1FBBDC6AD076}"/>
              </a:ext>
            </a:extLst>
          </p:cNvPr>
          <p:cNvPicPr>
            <a:picLocks noChangeAspect="1"/>
          </p:cNvPicPr>
          <p:nvPr userDrawn="1"/>
        </p:nvPicPr>
        <p:blipFill>
          <a:blip r:embed="rId10"/>
          <a:stretch>
            <a:fillRect/>
          </a:stretch>
        </p:blipFill>
        <p:spPr>
          <a:xfrm>
            <a:off x="7285641" y="4313048"/>
            <a:ext cx="1733914" cy="475120"/>
          </a:xfrm>
          <a:prstGeom prst="rect">
            <a:avLst/>
          </a:prstGeom>
        </p:spPr>
      </p:pic>
    </p:spTree>
    <p:extLst>
      <p:ext uri="{BB962C8B-B14F-4D97-AF65-F5344CB8AC3E}">
        <p14:creationId xmlns:p14="http://schemas.microsoft.com/office/powerpoint/2010/main" val="1954109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solidFill>
                  <a:schemeClr val="tx1"/>
                </a:solidFill>
                <a:latin typeface="+mj-lt"/>
              </a:defRPr>
            </a:lvl1pPr>
          </a:lstStyle>
          <a:p>
            <a:fld id="{E9791B11-EC80-479C-9EB2-AD35BA691394}" type="slidenum">
              <a:rPr lang="fr-FR" smtClean="0"/>
              <a:pPr/>
              <a:t>‹N°›</a:t>
            </a:fld>
            <a:endParaRPr lang="fr-FR" dirty="0"/>
          </a:p>
        </p:txBody>
      </p:sp>
      <p:sp>
        <p:nvSpPr>
          <p:cNvPr id="13" name="Espace réservé du texte 12">
            <a:extLst>
              <a:ext uri="{FF2B5EF4-FFF2-40B4-BE49-F238E27FC236}">
                <a16:creationId xmlns:a16="http://schemas.microsoft.com/office/drawing/2014/main" id="{F48E49C4-8AC3-9751-D206-DF78659A9550}"/>
              </a:ext>
            </a:extLst>
          </p:cNvPr>
          <p:cNvSpPr>
            <a:spLocks noGrp="1"/>
          </p:cNvSpPr>
          <p:nvPr>
            <p:ph type="body" sz="quarter" idx="13" hasCustomPrompt="1"/>
          </p:nvPr>
        </p:nvSpPr>
        <p:spPr>
          <a:xfrm>
            <a:off x="1133545" y="20537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172764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rtie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‹N°›</a:t>
            </a:fld>
            <a:endParaRPr lang="fr-FR" dirty="0"/>
          </a:p>
        </p:txBody>
      </p:sp>
      <p:sp>
        <p:nvSpPr>
          <p:cNvPr id="4" name="Espace réservé du texte 12">
            <a:extLst>
              <a:ext uri="{FF2B5EF4-FFF2-40B4-BE49-F238E27FC236}">
                <a16:creationId xmlns:a16="http://schemas.microsoft.com/office/drawing/2014/main" id="{A5D6C8FC-0034-F452-D2AF-4FC8AE48AEEC}"/>
              </a:ext>
            </a:extLst>
          </p:cNvPr>
          <p:cNvSpPr>
            <a:spLocks noGrp="1"/>
          </p:cNvSpPr>
          <p:nvPr>
            <p:ph type="body" sz="quarter" idx="13" hasCustomPrompt="1"/>
          </p:nvPr>
        </p:nvSpPr>
        <p:spPr>
          <a:xfrm>
            <a:off x="1133545" y="20537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335111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‹N°›</a:t>
            </a:fld>
            <a:endParaRPr lang="fr-FR" dirty="0"/>
          </a:p>
        </p:txBody>
      </p:sp>
      <p:sp>
        <p:nvSpPr>
          <p:cNvPr id="4" name="Espace réservé du texte 12">
            <a:extLst>
              <a:ext uri="{FF2B5EF4-FFF2-40B4-BE49-F238E27FC236}">
                <a16:creationId xmlns:a16="http://schemas.microsoft.com/office/drawing/2014/main" id="{5C5682D1-7B98-E455-5894-CB3AD017E698}"/>
              </a:ext>
            </a:extLst>
          </p:cNvPr>
          <p:cNvSpPr>
            <a:spLocks noGrp="1"/>
          </p:cNvSpPr>
          <p:nvPr>
            <p:ph type="body" sz="quarter" idx="14" hasCustomPrompt="1"/>
          </p:nvPr>
        </p:nvSpPr>
        <p:spPr>
          <a:xfrm>
            <a:off x="1285945" y="22061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78831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999810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4016395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4767263"/>
            <a:ext cx="2057400" cy="273844"/>
          </a:xfrm>
          <a:prstGeom prst="rect">
            <a:avLst/>
          </a:prstGeom>
        </p:spPr>
        <p:txBody>
          <a:bodyPr/>
          <a:lstStyle/>
          <a:p>
            <a:endParaRPr lang="fr-FR" dirty="0"/>
          </a:p>
        </p:txBody>
      </p:sp>
      <p:sp>
        <p:nvSpPr>
          <p:cNvPr id="8" name="Footer Placeholder 7"/>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9" name="Slide Number Placeholder 8"/>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1157867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4767263"/>
            <a:ext cx="2057400" cy="273844"/>
          </a:xfrm>
          <a:prstGeom prst="rect">
            <a:avLst/>
          </a:prstGeom>
        </p:spPr>
        <p:txBody>
          <a:bodyPr/>
          <a:lstStyle/>
          <a:p>
            <a:endParaRPr lang="fr-FR" dirty="0"/>
          </a:p>
        </p:txBody>
      </p:sp>
      <p:sp>
        <p:nvSpPr>
          <p:cNvPr id="4" name="Footer Placeholder 3"/>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233235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pic>
        <p:nvPicPr>
          <p:cNvPr id="32" name="Picture 2" descr="logoimedeacsicuib | Ojo a las invasoras">
            <a:extLst>
              <a:ext uri="{FF2B5EF4-FFF2-40B4-BE49-F238E27FC236}">
                <a16:creationId xmlns:a16="http://schemas.microsoft.com/office/drawing/2014/main" id="{69F7776F-FB58-40A7-9639-8ADB18269B3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58935" y="785261"/>
            <a:ext cx="1245812" cy="61356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University of Warwick | University of warwick, Free online courses,  Business school logo">
            <a:extLst>
              <a:ext uri="{FF2B5EF4-FFF2-40B4-BE49-F238E27FC236}">
                <a16:creationId xmlns:a16="http://schemas.microsoft.com/office/drawing/2014/main" id="{CEE51A5F-6022-4B8F-A157-A657FC1B53D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0795" y="770033"/>
            <a:ext cx="738233" cy="48969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descr="Logos and acknowledgement | The Leverhulme Trust">
            <a:extLst>
              <a:ext uri="{FF2B5EF4-FFF2-40B4-BE49-F238E27FC236}">
                <a16:creationId xmlns:a16="http://schemas.microsoft.com/office/drawing/2014/main" id="{1D92F5F1-DD85-43CE-AC5B-B9AB43AA056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89030" y="1320676"/>
            <a:ext cx="1042473" cy="34839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2" descr="COST Actions - RespiFIL - Filière de santé des maladies respiratoires rares">
            <a:extLst>
              <a:ext uri="{FF2B5EF4-FFF2-40B4-BE49-F238E27FC236}">
                <a16:creationId xmlns:a16="http://schemas.microsoft.com/office/drawing/2014/main" id="{EAD6947E-6C5A-43D7-8012-594C4476AD05}"/>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37304" y="914777"/>
            <a:ext cx="935059" cy="417021"/>
          </a:xfrm>
          <a:prstGeom prst="rect">
            <a:avLst/>
          </a:prstGeom>
          <a:noFill/>
          <a:extLst>
            <a:ext uri="{909E8E84-426E-40DD-AFC4-6F175D3DCCD1}">
              <a14:hiddenFill xmlns:a14="http://schemas.microsoft.com/office/drawing/2010/main">
                <a:solidFill>
                  <a:srgbClr val="FFFFFF"/>
                </a:solidFill>
              </a14:hiddenFill>
            </a:ext>
          </a:extLst>
        </p:spPr>
      </p:pic>
      <p:sp>
        <p:nvSpPr>
          <p:cNvPr id="37" name="ZoneTexte 27">
            <a:extLst>
              <a:ext uri="{FF2B5EF4-FFF2-40B4-BE49-F238E27FC236}">
                <a16:creationId xmlns:a16="http://schemas.microsoft.com/office/drawing/2014/main" id="{2FAB3084-8D9E-4CFC-AA58-DFD5B952D4FC}"/>
              </a:ext>
            </a:extLst>
          </p:cNvPr>
          <p:cNvSpPr txBox="1"/>
          <p:nvPr userDrawn="1"/>
        </p:nvSpPr>
        <p:spPr>
          <a:xfrm>
            <a:off x="1592364" y="2460279"/>
            <a:ext cx="930063" cy="954107"/>
          </a:xfrm>
          <a:prstGeom prst="rect">
            <a:avLst/>
          </a:prstGeom>
          <a:noFill/>
        </p:spPr>
        <p:txBody>
          <a:bodyPr wrap="none" rtlCol="0">
            <a:spAutoFit/>
          </a:bodyPr>
          <a:lstStyle/>
          <a:p>
            <a:pPr algn="ctr"/>
            <a:r>
              <a:rPr lang="en-US" sz="1400" u="sng" dirty="0">
                <a:latin typeface="Times New Roman" panose="02020603050405020304" pitchFamily="18" charset="0"/>
                <a:cs typeface="Times New Roman" panose="02020603050405020304" pitchFamily="18" charset="0"/>
              </a:rPr>
              <a:t>J. Arrieta</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u="sng" dirty="0">
                <a:latin typeface="Times New Roman" panose="02020603050405020304" pitchFamily="18" charset="0"/>
                <a:cs typeface="Times New Roman" panose="02020603050405020304" pitchFamily="18" charset="0"/>
              </a:rPr>
              <a:t>M. </a:t>
            </a:r>
            <a:r>
              <a:rPr lang="en-US" sz="1400" u="sng" dirty="0" err="1">
                <a:latin typeface="Times New Roman" panose="02020603050405020304" pitchFamily="18" charset="0"/>
                <a:cs typeface="Times New Roman" panose="02020603050405020304" pitchFamily="18" charset="0"/>
              </a:rPr>
              <a:t>Polin</a:t>
            </a:r>
            <a:endParaRPr lang="en-US" sz="1400" u="sng" dirty="0">
              <a:latin typeface="Times New Roman" panose="02020603050405020304" pitchFamily="18" charset="0"/>
              <a:cs typeface="Times New Roman" panose="02020603050405020304" pitchFamily="18" charset="0"/>
            </a:endParaRPr>
          </a:p>
          <a:p>
            <a:pPr algn="ctr"/>
            <a:r>
              <a:rPr lang="en-US" sz="1400" u="none" dirty="0">
                <a:latin typeface="Times New Roman" panose="02020603050405020304" pitchFamily="18" charset="0"/>
                <a:cs typeface="Times New Roman" panose="02020603050405020304" pitchFamily="18" charset="0"/>
              </a:rPr>
              <a:t>I. </a:t>
            </a:r>
            <a:r>
              <a:rPr lang="en-US" sz="1400" u="none" dirty="0" err="1">
                <a:latin typeface="Times New Roman" panose="02020603050405020304" pitchFamily="18" charset="0"/>
                <a:cs typeface="Times New Roman" panose="02020603050405020304" pitchFamily="18" charset="0"/>
              </a:rPr>
              <a:t>Tuval</a:t>
            </a:r>
            <a:endParaRPr lang="en-US" sz="1400" u="none" dirty="0">
              <a:latin typeface="Times New Roman" panose="02020603050405020304" pitchFamily="18" charset="0"/>
              <a:cs typeface="Times New Roman" panose="02020603050405020304" pitchFamily="18" charset="0"/>
            </a:endParaRPr>
          </a:p>
          <a:p>
            <a:pPr algn="ctr"/>
            <a:r>
              <a:rPr lang="en-US" sz="1400" u="sng" dirty="0">
                <a:latin typeface="Times New Roman" panose="02020603050405020304" pitchFamily="18" charset="0"/>
                <a:cs typeface="Times New Roman" panose="02020603050405020304" pitchFamily="18" charset="0"/>
              </a:rPr>
              <a:t>L. </a:t>
            </a:r>
            <a:r>
              <a:rPr lang="en-US" sz="1400" u="sng" dirty="0" err="1">
                <a:latin typeface="Times New Roman" panose="02020603050405020304" pitchFamily="18" charset="0"/>
                <a:cs typeface="Times New Roman" panose="02020603050405020304" pitchFamily="18" charset="0"/>
              </a:rPr>
              <a:t>Zorrilla</a:t>
            </a:r>
            <a:endParaRPr lang="en-US" sz="1400" u="none" dirty="0">
              <a:latin typeface="Times New Roman" panose="02020603050405020304" pitchFamily="18" charset="0"/>
              <a:cs typeface="Times New Roman" panose="02020603050405020304" pitchFamily="18" charset="0"/>
            </a:endParaRPr>
          </a:p>
        </p:txBody>
      </p:sp>
      <p:pic>
        <p:nvPicPr>
          <p:cNvPr id="41" name="Picture 6">
            <a:extLst>
              <a:ext uri="{FF2B5EF4-FFF2-40B4-BE49-F238E27FC236}">
                <a16:creationId xmlns:a16="http://schemas.microsoft.com/office/drawing/2014/main" id="{E59375D9-4FE0-49A5-964B-0FA9CE5DFC84}"/>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2658935" y="1466723"/>
            <a:ext cx="1185686" cy="363025"/>
          </a:xfrm>
          <a:prstGeom prst="rect">
            <a:avLst/>
          </a:prstGeom>
          <a:noFill/>
          <a:extLst>
            <a:ext uri="{909E8E84-426E-40DD-AFC4-6F175D3DCCD1}">
              <a14:hiddenFill xmlns:a14="http://schemas.microsoft.com/office/drawing/2010/main">
                <a:solidFill>
                  <a:srgbClr val="FFFFFF"/>
                </a:solidFill>
              </a14:hiddenFill>
            </a:ext>
          </a:extLst>
        </p:spPr>
      </p:pic>
      <p:sp>
        <p:nvSpPr>
          <p:cNvPr id="45" name="Titre 1">
            <a:extLst>
              <a:ext uri="{FF2B5EF4-FFF2-40B4-BE49-F238E27FC236}">
                <a16:creationId xmlns:a16="http://schemas.microsoft.com/office/drawing/2014/main" id="{241D9E5D-D95A-4270-9D61-05980439F887}"/>
              </a:ext>
            </a:extLst>
          </p:cNvPr>
          <p:cNvSpPr txBox="1">
            <a:spLocks/>
          </p:cNvSpPr>
          <p:nvPr userDrawn="1"/>
        </p:nvSpPr>
        <p:spPr>
          <a:xfrm>
            <a:off x="2280453" y="4284622"/>
            <a:ext cx="4969278" cy="617565"/>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GB" sz="2000" dirty="0">
                <a:solidFill>
                  <a:srgbClr val="3AB19C"/>
                </a:solidFill>
                <a:latin typeface="Times New Roman" panose="02020603050405020304" pitchFamily="18" charset="0"/>
                <a:cs typeface="Times New Roman" panose="02020603050405020304" pitchFamily="18" charset="0"/>
              </a:rPr>
              <a:t>Merci pour </a:t>
            </a:r>
            <a:r>
              <a:rPr lang="en-GB" sz="2000" dirty="0" err="1">
                <a:solidFill>
                  <a:srgbClr val="3AB19C"/>
                </a:solidFill>
                <a:latin typeface="Times New Roman" panose="02020603050405020304" pitchFamily="18" charset="0"/>
                <a:cs typeface="Times New Roman" panose="02020603050405020304" pitchFamily="18" charset="0"/>
              </a:rPr>
              <a:t>votre</a:t>
            </a:r>
            <a:r>
              <a:rPr lang="en-GB" sz="2000" dirty="0">
                <a:solidFill>
                  <a:srgbClr val="3AB19C"/>
                </a:solidFill>
                <a:latin typeface="Times New Roman" panose="02020603050405020304" pitchFamily="18" charset="0"/>
                <a:cs typeface="Times New Roman" panose="02020603050405020304" pitchFamily="18" charset="0"/>
              </a:rPr>
              <a:t> attention</a:t>
            </a:r>
            <a:endParaRPr lang="fr-FR" sz="2000" i="1" dirty="0">
              <a:solidFill>
                <a:srgbClr val="3AB19C"/>
              </a:solidFill>
              <a:latin typeface="Times New Roman" panose="02020603050405020304" pitchFamily="18" charset="0"/>
              <a:cs typeface="Times New Roman" panose="02020603050405020304" pitchFamily="18" charset="0"/>
            </a:endParaRPr>
          </a:p>
        </p:txBody>
      </p:sp>
      <p:pic>
        <p:nvPicPr>
          <p:cNvPr id="47" name="Picture 2">
            <a:extLst>
              <a:ext uri="{FF2B5EF4-FFF2-40B4-BE49-F238E27FC236}">
                <a16:creationId xmlns:a16="http://schemas.microsoft.com/office/drawing/2014/main" id="{B99D54FA-D310-4C56-AA39-58913509E4D9}"/>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6427299" y="624681"/>
            <a:ext cx="1313622" cy="445800"/>
          </a:xfrm>
          <a:prstGeom prst="rect">
            <a:avLst/>
          </a:prstGeom>
          <a:noFill/>
          <a:extLst>
            <a:ext uri="{909E8E84-426E-40DD-AFC4-6F175D3DCCD1}">
              <a14:hiddenFill xmlns:a14="http://schemas.microsoft.com/office/drawing/2010/main">
                <a:solidFill>
                  <a:srgbClr val="FFFFFF"/>
                </a:solidFill>
              </a14:hiddenFill>
            </a:ext>
          </a:extLst>
        </p:spPr>
      </p:pic>
      <p:sp>
        <p:nvSpPr>
          <p:cNvPr id="48" name="ZoneTexte 27">
            <a:extLst>
              <a:ext uri="{FF2B5EF4-FFF2-40B4-BE49-F238E27FC236}">
                <a16:creationId xmlns:a16="http://schemas.microsoft.com/office/drawing/2014/main" id="{7A747AC9-25D5-4FFD-9E3D-95A8A9E37D90}"/>
              </a:ext>
            </a:extLst>
          </p:cNvPr>
          <p:cNvSpPr txBox="1"/>
          <p:nvPr userDrawn="1"/>
        </p:nvSpPr>
        <p:spPr>
          <a:xfrm>
            <a:off x="6683711" y="2460279"/>
            <a:ext cx="1132040" cy="954107"/>
          </a:xfrm>
          <a:prstGeom prst="rect">
            <a:avLst/>
          </a:prstGeom>
          <a:noFill/>
        </p:spPr>
        <p:txBody>
          <a:bodyPr wrap="none" rtlCol="0">
            <a:spAutoFit/>
          </a:bodyPr>
          <a:lstStyle/>
          <a:p>
            <a:pPr algn="ctr"/>
            <a:r>
              <a:rPr lang="fr-FR" sz="1400" u="sng" dirty="0">
                <a:latin typeface="Times New Roman" panose="02020603050405020304" pitchFamily="18" charset="0"/>
                <a:cs typeface="Times New Roman" panose="02020603050405020304" pitchFamily="18" charset="0"/>
              </a:rPr>
              <a:t>F. </a:t>
            </a:r>
            <a:r>
              <a:rPr lang="fr-FR" sz="1400" u="sng" dirty="0" err="1">
                <a:latin typeface="Times New Roman" panose="02020603050405020304" pitchFamily="18" charset="0"/>
                <a:cs typeface="Times New Roman" panose="02020603050405020304" pitchFamily="18" charset="0"/>
              </a:rPr>
              <a:t>Argoul</a:t>
            </a:r>
            <a:endParaRPr lang="fr-FR" sz="1400" u="sng" dirty="0">
              <a:latin typeface="Times New Roman" panose="02020603050405020304" pitchFamily="18" charset="0"/>
              <a:cs typeface="Times New Roman" panose="02020603050405020304" pitchFamily="18" charset="0"/>
            </a:endParaRPr>
          </a:p>
          <a:p>
            <a:pPr algn="ctr"/>
            <a:r>
              <a:rPr lang="fr-FR" sz="1400" u="none" dirty="0">
                <a:latin typeface="Times New Roman" panose="02020603050405020304" pitchFamily="18" charset="0"/>
                <a:cs typeface="Times New Roman" panose="02020603050405020304" pitchFamily="18" charset="0"/>
              </a:rPr>
              <a:t>A. Badr</a:t>
            </a:r>
          </a:p>
          <a:p>
            <a:pPr algn="ctr"/>
            <a:r>
              <a:rPr lang="fr-FR" sz="1400" u="sng" dirty="0">
                <a:latin typeface="Times New Roman" panose="02020603050405020304" pitchFamily="18" charset="0"/>
                <a:cs typeface="Times New Roman" panose="02020603050405020304" pitchFamily="18" charset="0"/>
              </a:rPr>
              <a:t>L. </a:t>
            </a:r>
            <a:r>
              <a:rPr lang="fr-FR" sz="1400" u="sng" dirty="0" err="1">
                <a:latin typeface="Times New Roman" panose="02020603050405020304" pitchFamily="18" charset="0"/>
                <a:cs typeface="Times New Roman" panose="02020603050405020304" pitchFamily="18" charset="0"/>
              </a:rPr>
              <a:t>Federspiel</a:t>
            </a:r>
            <a:endParaRPr lang="fr-FR" sz="1400" u="sng" dirty="0">
              <a:latin typeface="Times New Roman" panose="02020603050405020304" pitchFamily="18" charset="0"/>
              <a:cs typeface="Times New Roman" panose="02020603050405020304" pitchFamily="18" charset="0"/>
            </a:endParaRPr>
          </a:p>
          <a:p>
            <a:pPr algn="ctr"/>
            <a:r>
              <a:rPr lang="fr-FR" sz="1400" u="none" dirty="0">
                <a:latin typeface="Times New Roman" panose="02020603050405020304" pitchFamily="18" charset="0"/>
                <a:cs typeface="Times New Roman" panose="02020603050405020304" pitchFamily="18" charset="0"/>
              </a:rPr>
              <a:t>M. Gallego</a:t>
            </a:r>
          </a:p>
        </p:txBody>
      </p:sp>
      <p:pic>
        <p:nvPicPr>
          <p:cNvPr id="23" name="Picture 2" descr="Département SMR">
            <a:extLst>
              <a:ext uri="{FF2B5EF4-FFF2-40B4-BE49-F238E27FC236}">
                <a16:creationId xmlns:a16="http://schemas.microsoft.com/office/drawing/2014/main" id="{6E6757AE-AAF6-404F-8864-270A93FC702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296434" y="1255012"/>
            <a:ext cx="2695575" cy="3714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883F1D37-829D-482D-BC95-79801CFC896A}"/>
              </a:ext>
            </a:extLst>
          </p:cNvPr>
          <p:cNvPicPr>
            <a:picLocks noChangeAspect="1"/>
          </p:cNvPicPr>
          <p:nvPr userDrawn="1"/>
        </p:nvPicPr>
        <p:blipFill>
          <a:blip r:embed="rId9"/>
          <a:stretch>
            <a:fillRect/>
          </a:stretch>
        </p:blipFill>
        <p:spPr>
          <a:xfrm>
            <a:off x="5418093" y="1144921"/>
            <a:ext cx="798559" cy="641617"/>
          </a:xfrm>
          <a:prstGeom prst="rect">
            <a:avLst/>
          </a:prstGeom>
        </p:spPr>
      </p:pic>
      <p:sp>
        <p:nvSpPr>
          <p:cNvPr id="2" name="ZoneTexte 1">
            <a:extLst>
              <a:ext uri="{FF2B5EF4-FFF2-40B4-BE49-F238E27FC236}">
                <a16:creationId xmlns:a16="http://schemas.microsoft.com/office/drawing/2014/main" id="{212C76E0-78DE-4BE3-A9F3-DA83F1986D68}"/>
              </a:ext>
            </a:extLst>
          </p:cNvPr>
          <p:cNvSpPr txBox="1"/>
          <p:nvPr userDrawn="1"/>
        </p:nvSpPr>
        <p:spPr>
          <a:xfrm>
            <a:off x="6676389" y="4589502"/>
            <a:ext cx="2467611" cy="553998"/>
          </a:xfrm>
          <a:prstGeom prst="rect">
            <a:avLst/>
          </a:prstGeom>
          <a:noFill/>
        </p:spPr>
        <p:txBody>
          <a:bodyPr wrap="square" rtlCol="0" anchor="ctr">
            <a:spAutoFit/>
          </a:bodyPr>
          <a:lstStyle/>
          <a:p>
            <a:endParaRPr lang="fr-FR" sz="1500" dirty="0"/>
          </a:p>
          <a:p>
            <a:r>
              <a:rPr lang="fr-FR" sz="1500" dirty="0"/>
              <a:t>antoine.allard@u-bordeaux.fr</a:t>
            </a:r>
          </a:p>
        </p:txBody>
      </p:sp>
      <p:pic>
        <p:nvPicPr>
          <p:cNvPr id="4" name="Graphique 3" descr="Courrier">
            <a:extLst>
              <a:ext uri="{FF2B5EF4-FFF2-40B4-BE49-F238E27FC236}">
                <a16:creationId xmlns:a16="http://schemas.microsoft.com/office/drawing/2014/main" id="{BB7F2C7F-C5AB-C142-7BE4-5A8E21DA180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16389" y="4756246"/>
            <a:ext cx="360000" cy="360000"/>
          </a:xfrm>
          <a:prstGeom prst="rect">
            <a:avLst/>
          </a:prstGeom>
        </p:spPr>
      </p:pic>
    </p:spTree>
    <p:extLst>
      <p:ext uri="{BB962C8B-B14F-4D97-AF65-F5344CB8AC3E}">
        <p14:creationId xmlns:p14="http://schemas.microsoft.com/office/powerpoint/2010/main" val="1554353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endParaRPr lang="fr-FR" dirty="0"/>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1336201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2235612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38838184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3104927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‹N°›</a:t>
            </a:fld>
            <a:endParaRPr lang="fr-FR" dirty="0"/>
          </a:p>
        </p:txBody>
      </p:sp>
    </p:spTree>
    <p:extLst>
      <p:ext uri="{BB962C8B-B14F-4D97-AF65-F5344CB8AC3E}">
        <p14:creationId xmlns:p14="http://schemas.microsoft.com/office/powerpoint/2010/main" val="22558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arti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‹N°›</a:t>
            </a:fld>
            <a:endParaRPr lang="fr-FR" dirty="0"/>
          </a:p>
        </p:txBody>
      </p:sp>
      <p:sp>
        <p:nvSpPr>
          <p:cNvPr id="4" name="Espace réservé du texte 12">
            <a:extLst>
              <a:ext uri="{FF2B5EF4-FFF2-40B4-BE49-F238E27FC236}">
                <a16:creationId xmlns:a16="http://schemas.microsoft.com/office/drawing/2014/main" id="{5C5682D1-7B98-E455-5894-CB3AD017E698}"/>
              </a:ext>
            </a:extLst>
          </p:cNvPr>
          <p:cNvSpPr>
            <a:spLocks noGrp="1"/>
          </p:cNvSpPr>
          <p:nvPr>
            <p:ph type="body" sz="quarter" idx="14" hasCustomPrompt="1"/>
          </p:nvPr>
        </p:nvSpPr>
        <p:spPr>
          <a:xfrm>
            <a:off x="1285945" y="22061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387116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Rectangle 6">
            <a:extLst>
              <a:ext uri="{FF2B5EF4-FFF2-40B4-BE49-F238E27FC236}">
                <a16:creationId xmlns:a16="http://schemas.microsoft.com/office/drawing/2014/main" id="{AFCFDE52-738E-9636-3861-F56B4CE6AB2E}"/>
              </a:ext>
            </a:extLst>
          </p:cNvPr>
          <p:cNvSpPr/>
          <p:nvPr userDrawn="1"/>
        </p:nvSpPr>
        <p:spPr>
          <a:xfrm>
            <a:off x="0" y="0"/>
            <a:ext cx="9144000" cy="297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fr-FR" sz="1800" dirty="0"/>
          </a:p>
        </p:txBody>
      </p:sp>
      <p:sp>
        <p:nvSpPr>
          <p:cNvPr id="2" name="Title Placeholder 1"/>
          <p:cNvSpPr>
            <a:spLocks noGrp="1"/>
          </p:cNvSpPr>
          <p:nvPr>
            <p:ph type="title"/>
          </p:nvPr>
        </p:nvSpPr>
        <p:spPr>
          <a:xfrm>
            <a:off x="0" y="0"/>
            <a:ext cx="8515350" cy="297000"/>
          </a:xfrm>
          <a:prstGeom prst="rect">
            <a:avLst/>
          </a:prstGeom>
        </p:spPr>
        <p:txBody>
          <a:bodyPr vert="horz" lIns="91440" tIns="45720" rIns="91440" bIns="45720" rtlCol="0" anchor="ctr">
            <a:noAutofit/>
          </a:bodyPr>
          <a:lstStyle/>
          <a:p>
            <a:r>
              <a:rPr lang="fr-FR" dirty="0"/>
              <a:t>Modifiez le style du titre</a:t>
            </a:r>
            <a:endParaRPr lang="en-US" dirty="0"/>
          </a:p>
        </p:txBody>
      </p:sp>
    </p:spTree>
    <p:extLst>
      <p:ext uri="{BB962C8B-B14F-4D97-AF65-F5344CB8AC3E}">
        <p14:creationId xmlns:p14="http://schemas.microsoft.com/office/powerpoint/2010/main" val="193526376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8" r:id="rId3"/>
    <p:sldLayoutId id="2147483709" r:id="rId4"/>
    <p:sldLayoutId id="2147483699" r:id="rId5"/>
    <p:sldLayoutId id="2147483700" r:id="rId6"/>
    <p:sldLayoutId id="2147483701" r:id="rId7"/>
    <p:sldLayoutId id="2147483702" r:id="rId8"/>
    <p:sldLayoutId id="2147483710" r:id="rId9"/>
    <p:sldLayoutId id="2147483703" r:id="rId10"/>
    <p:sldLayoutId id="2147483704" r:id="rId11"/>
    <p:sldLayoutId id="2147483705" r:id="rId12"/>
    <p:sldLayoutId id="2147483706" r:id="rId13"/>
    <p:sldLayoutId id="2147483707" r:id="rId14"/>
    <p:sldLayoutId id="2147483712" r:id="rId15"/>
  </p:sldLayoutIdLst>
  <p:hf hdr="0" ftr="0" dt="0"/>
  <p:txStyles>
    <p:titleStyle>
      <a:lvl1pPr algn="l" defTabSz="685800" rtl="0" eaLnBrk="1" latinLnBrk="0" hangingPunct="1">
        <a:lnSpc>
          <a:spcPct val="90000"/>
        </a:lnSpc>
        <a:spcBef>
          <a:spcPct val="0"/>
        </a:spcBef>
        <a:buNone/>
        <a:defRPr sz="21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5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0.png"/><Relationship Id="rId10" Type="http://schemas.openxmlformats.org/officeDocument/2006/relationships/image" Target="../media/image29.png"/><Relationship Id="rId4" Type="http://schemas.openxmlformats.org/officeDocument/2006/relationships/image" Target="../media/image220.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45.png"/><Relationship Id="rId3" Type="http://schemas.openxmlformats.org/officeDocument/2006/relationships/image" Target="../media/image23.png"/><Relationship Id="rId7" Type="http://schemas.openxmlformats.org/officeDocument/2006/relationships/image" Target="../media/image42.png"/><Relationship Id="rId12" Type="http://schemas.openxmlformats.org/officeDocument/2006/relationships/image" Target="../media/image49.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48.png"/><Relationship Id="rId5" Type="http://schemas.openxmlformats.org/officeDocument/2006/relationships/image" Target="../media/image32.png"/><Relationship Id="rId10" Type="http://schemas.openxmlformats.org/officeDocument/2006/relationships/image" Target="../media/image47.png"/><Relationship Id="rId4" Type="http://schemas.openxmlformats.org/officeDocument/2006/relationships/image" Target="../media/image31.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45.png"/><Relationship Id="rId3" Type="http://schemas.openxmlformats.org/officeDocument/2006/relationships/image" Target="../media/image23.png"/><Relationship Id="rId7" Type="http://schemas.openxmlformats.org/officeDocument/2006/relationships/image" Target="../media/image42.png"/><Relationship Id="rId12" Type="http://schemas.openxmlformats.org/officeDocument/2006/relationships/image" Target="../media/image59.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540.png"/><Relationship Id="rId4" Type="http://schemas.openxmlformats.org/officeDocument/2006/relationships/image" Target="../media/image530.png"/></Relationships>
</file>

<file path=ppt/slides/_rels/slide1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4.png"/><Relationship Id="rId1" Type="http://schemas.openxmlformats.org/officeDocument/2006/relationships/slideLayout" Target="../slideLayouts/slideLayout15.xml"/><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332C8-66A3-297C-5185-5876D5F5AC80}"/>
              </a:ext>
            </a:extLst>
          </p:cNvPr>
          <p:cNvSpPr>
            <a:spLocks noGrp="1"/>
          </p:cNvSpPr>
          <p:nvPr>
            <p:ph type="ctrTitle"/>
          </p:nvPr>
        </p:nvSpPr>
        <p:spPr>
          <a:xfrm>
            <a:off x="365593" y="616571"/>
            <a:ext cx="8412813" cy="1033411"/>
          </a:xfrm>
        </p:spPr>
        <p:txBody>
          <a:bodyPr>
            <a:normAutofit/>
          </a:bodyPr>
          <a:lstStyle/>
          <a:p>
            <a:r>
              <a:rPr lang="en-GB" dirty="0">
                <a:solidFill>
                  <a:srgbClr val="62003C"/>
                </a:solidFill>
                <a:latin typeface="Times New Roman" panose="02020603050405020304" pitchFamily="18" charset="0"/>
                <a:cs typeface="Times New Roman" panose="02020603050405020304" pitchFamily="18" charset="0"/>
              </a:rPr>
              <a:t>Photosynthesis and Chlorophyll Fluorescence:</a:t>
            </a:r>
            <a:br>
              <a:rPr lang="en-GB" dirty="0">
                <a:solidFill>
                  <a:srgbClr val="62003C"/>
                </a:solidFill>
                <a:latin typeface="Times New Roman" panose="02020603050405020304" pitchFamily="18" charset="0"/>
                <a:cs typeface="Times New Roman" panose="02020603050405020304" pitchFamily="18" charset="0"/>
              </a:rPr>
            </a:br>
            <a:r>
              <a:rPr lang="en-GB" dirty="0">
                <a:solidFill>
                  <a:srgbClr val="62003C"/>
                </a:solidFill>
                <a:latin typeface="Times New Roman" panose="02020603050405020304" pitchFamily="18" charset="0"/>
                <a:cs typeface="Times New Roman" panose="02020603050405020304" pitchFamily="18" charset="0"/>
              </a:rPr>
              <a:t>Principles, Regulation, and PAM Fluorometry</a:t>
            </a:r>
            <a:endParaRPr lang="fr-FR" i="1" dirty="0"/>
          </a:p>
        </p:txBody>
      </p:sp>
    </p:spTree>
    <p:extLst>
      <p:ext uri="{BB962C8B-B14F-4D97-AF65-F5344CB8AC3E}">
        <p14:creationId xmlns:p14="http://schemas.microsoft.com/office/powerpoint/2010/main" val="397984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EAA732-2462-EF88-0D19-08EE3FA75BE2}"/>
              </a:ext>
            </a:extLst>
          </p:cNvPr>
          <p:cNvSpPr>
            <a:spLocks noGrp="1"/>
          </p:cNvSpPr>
          <p:nvPr>
            <p:ph type="title"/>
          </p:nvPr>
        </p:nvSpPr>
        <p:spPr/>
        <p:txBody>
          <a:bodyPr/>
          <a:lstStyle/>
          <a:p>
            <a:r>
              <a:rPr lang="fr-FR" dirty="0" err="1"/>
              <a:t>Photosynthetic</a:t>
            </a:r>
            <a:r>
              <a:rPr lang="fr-FR" dirty="0"/>
              <a:t> </a:t>
            </a:r>
            <a:r>
              <a:rPr lang="fr-FR" dirty="0" err="1"/>
              <a:t>organisms</a:t>
            </a:r>
            <a:endParaRPr lang="en-GB" dirty="0"/>
          </a:p>
        </p:txBody>
      </p:sp>
      <p:sp>
        <p:nvSpPr>
          <p:cNvPr id="3" name="Espace réservé du numéro de diapositive 2">
            <a:extLst>
              <a:ext uri="{FF2B5EF4-FFF2-40B4-BE49-F238E27FC236}">
                <a16:creationId xmlns:a16="http://schemas.microsoft.com/office/drawing/2014/main" id="{E109F9A9-7487-80E3-2783-09689E5C77FA}"/>
              </a:ext>
            </a:extLst>
          </p:cNvPr>
          <p:cNvSpPr>
            <a:spLocks noGrp="1"/>
          </p:cNvSpPr>
          <p:nvPr>
            <p:ph type="sldNum" sz="quarter" idx="12"/>
          </p:nvPr>
        </p:nvSpPr>
        <p:spPr/>
        <p:txBody>
          <a:bodyPr/>
          <a:lstStyle/>
          <a:p>
            <a:fld id="{E9791B11-EC80-479C-9EB2-AD35BA691394}" type="slidenum">
              <a:rPr lang="fr-FR" smtClean="0"/>
              <a:pPr/>
              <a:t>2</a:t>
            </a:fld>
            <a:endParaRPr lang="fr-FR" dirty="0"/>
          </a:p>
        </p:txBody>
      </p:sp>
      <p:grpSp>
        <p:nvGrpSpPr>
          <p:cNvPr id="5" name="Groupe 4">
            <a:extLst>
              <a:ext uri="{FF2B5EF4-FFF2-40B4-BE49-F238E27FC236}">
                <a16:creationId xmlns:a16="http://schemas.microsoft.com/office/drawing/2014/main" id="{9A03FF32-6437-4AD8-31DB-54763559C774}"/>
              </a:ext>
            </a:extLst>
          </p:cNvPr>
          <p:cNvGrpSpPr/>
          <p:nvPr/>
        </p:nvGrpSpPr>
        <p:grpSpPr>
          <a:xfrm>
            <a:off x="4860470" y="772146"/>
            <a:ext cx="4000532" cy="4032189"/>
            <a:chOff x="7049482" y="629315"/>
            <a:chExt cx="2366681" cy="2385410"/>
          </a:xfrm>
        </p:grpSpPr>
        <p:grpSp>
          <p:nvGrpSpPr>
            <p:cNvPr id="6" name="Groupe 5">
              <a:extLst>
                <a:ext uri="{FF2B5EF4-FFF2-40B4-BE49-F238E27FC236}">
                  <a16:creationId xmlns:a16="http://schemas.microsoft.com/office/drawing/2014/main" id="{B8AADF7C-5F53-3B52-B1E9-1F4C93AAFCE0}"/>
                </a:ext>
              </a:extLst>
            </p:cNvPr>
            <p:cNvGrpSpPr/>
            <p:nvPr/>
          </p:nvGrpSpPr>
          <p:grpSpPr>
            <a:xfrm>
              <a:off x="7273610" y="629315"/>
              <a:ext cx="1906579" cy="2139190"/>
              <a:chOff x="2852738" y="1285460"/>
              <a:chExt cx="3438525" cy="3858040"/>
            </a:xfrm>
          </p:grpSpPr>
          <p:pic>
            <p:nvPicPr>
              <p:cNvPr id="8" name="Picture 4" descr="Microorganisms 08 01047 g006">
                <a:extLst>
                  <a:ext uri="{FF2B5EF4-FFF2-40B4-BE49-F238E27FC236}">
                    <a16:creationId xmlns:a16="http://schemas.microsoft.com/office/drawing/2014/main" id="{BCA7F386-0ADA-5344-4736-D86B2139C9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992"/>
              <a:stretch/>
            </p:blipFill>
            <p:spPr bwMode="auto">
              <a:xfrm>
                <a:off x="2852738" y="1285460"/>
                <a:ext cx="3438525" cy="38580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Microorganisms 08 01047 g007">
                <a:extLst>
                  <a:ext uri="{FF2B5EF4-FFF2-40B4-BE49-F238E27FC236}">
                    <a16:creationId xmlns:a16="http://schemas.microsoft.com/office/drawing/2014/main" id="{8305CD5C-E277-20D5-F5DF-696BA5F7F20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t="50000"/>
              <a:stretch/>
            </p:blipFill>
            <p:spPr bwMode="auto">
              <a:xfrm>
                <a:off x="4582683" y="2571750"/>
                <a:ext cx="1703387" cy="257175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32">
              <a:extLst>
                <a:ext uri="{FF2B5EF4-FFF2-40B4-BE49-F238E27FC236}">
                  <a16:creationId xmlns:a16="http://schemas.microsoft.com/office/drawing/2014/main" id="{888CF98D-76FF-86E8-B50E-62F3EF8929DF}"/>
                </a:ext>
              </a:extLst>
            </p:cNvPr>
            <p:cNvSpPr txBox="1"/>
            <p:nvPr/>
          </p:nvSpPr>
          <p:spPr>
            <a:xfrm>
              <a:off x="7049482" y="2768504"/>
              <a:ext cx="2366681" cy="246221"/>
            </a:xfrm>
            <a:prstGeom prst="rect">
              <a:avLst/>
            </a:prstGeom>
            <a:noFill/>
          </p:spPr>
          <p:txBody>
            <a:bodyPr wrap="square">
              <a:spAutoFit/>
            </a:bodyPr>
            <a:lstStyle/>
            <a:p>
              <a:pPr algn="ctr"/>
              <a:r>
                <a:rPr lang="en-US" sz="1000" b="0" i="1" dirty="0" err="1">
                  <a:effectLst/>
                  <a:latin typeface="Times New Roman" panose="02020603050405020304" pitchFamily="18" charset="0"/>
                  <a:cs typeface="Times New Roman" panose="02020603050405020304" pitchFamily="18" charset="0"/>
                </a:rPr>
                <a:t>Samolov</a:t>
              </a:r>
              <a:r>
                <a:rPr lang="en-US" sz="1000" b="0" i="1" dirty="0">
                  <a:effectLst/>
                  <a:latin typeface="Times New Roman" panose="02020603050405020304" pitchFamily="18" charset="0"/>
                  <a:cs typeface="Times New Roman" panose="02020603050405020304" pitchFamily="18" charset="0"/>
                </a:rPr>
                <a:t> et al., Microorganisms, 2020</a:t>
              </a:r>
              <a:endParaRPr lang="fr-FR" sz="1000" i="1" dirty="0">
                <a:latin typeface="Times New Roman" panose="02020603050405020304" pitchFamily="18" charset="0"/>
                <a:cs typeface="Times New Roman" panose="02020603050405020304" pitchFamily="18" charset="0"/>
              </a:endParaRPr>
            </a:p>
          </p:txBody>
        </p:sp>
      </p:grpSp>
      <p:sp>
        <p:nvSpPr>
          <p:cNvPr id="10" name="Espace réservé du texte 11">
            <a:extLst>
              <a:ext uri="{FF2B5EF4-FFF2-40B4-BE49-F238E27FC236}">
                <a16:creationId xmlns:a16="http://schemas.microsoft.com/office/drawing/2014/main" id="{427F6A00-DDF6-417D-9708-7A7ECA53894F}"/>
              </a:ext>
            </a:extLst>
          </p:cNvPr>
          <p:cNvSpPr txBox="1">
            <a:spLocks/>
          </p:cNvSpPr>
          <p:nvPr/>
        </p:nvSpPr>
        <p:spPr>
          <a:xfrm>
            <a:off x="6105454" y="553520"/>
            <a:ext cx="1490537" cy="145744"/>
          </a:xfrm>
          <a:prstGeom prst="roundRect">
            <a:avLst>
              <a:gd name="adj" fmla="val 33309"/>
            </a:avLst>
          </a:prstGeom>
          <a:solidFill>
            <a:schemeClr val="bg1">
              <a:alpha val="69804"/>
            </a:schemeClr>
          </a:solidFill>
          <a:ln w="12700">
            <a:solidFill>
              <a:schemeClr val="tx1"/>
            </a:solidFill>
            <a:prstDash val="solid"/>
          </a:ln>
        </p:spPr>
        <p:txBody>
          <a:bodyPr vert="horz" lIns="91440" tIns="45720" rIns="91440" bIns="4572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sz="1200" kern="1200">
                <a:solidFill>
                  <a:schemeClr val="bg2">
                    <a:lumMod val="5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000" dirty="0" err="1">
                <a:solidFill>
                  <a:schemeClr val="tx1"/>
                </a:solidFill>
              </a:rPr>
              <a:t>Algae</a:t>
            </a:r>
            <a:r>
              <a:rPr lang="fr-FR" sz="1000" dirty="0">
                <a:solidFill>
                  <a:schemeClr val="tx1"/>
                </a:solidFill>
              </a:rPr>
              <a:t> and </a:t>
            </a:r>
            <a:r>
              <a:rPr lang="fr-FR" sz="1000" dirty="0" err="1">
                <a:solidFill>
                  <a:schemeClr val="tx1"/>
                </a:solidFill>
              </a:rPr>
              <a:t>cyanobacteria</a:t>
            </a:r>
            <a:endParaRPr lang="fr-FR" sz="1000" u="sng" dirty="0">
              <a:solidFill>
                <a:schemeClr val="tx1"/>
              </a:solidFill>
            </a:endParaRPr>
          </a:p>
        </p:txBody>
      </p:sp>
      <p:pic>
        <p:nvPicPr>
          <p:cNvPr id="11" name="Mimosa pudica">
            <a:hlinkClick r:id="" action="ppaction://media"/>
            <a:extLst>
              <a:ext uri="{FF2B5EF4-FFF2-40B4-BE49-F238E27FC236}">
                <a16:creationId xmlns:a16="http://schemas.microsoft.com/office/drawing/2014/main" id="{16084505-05E9-BFF9-0BB6-9576FE3C7E9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t="9796" b="13911"/>
          <a:stretch/>
        </p:blipFill>
        <p:spPr>
          <a:xfrm>
            <a:off x="1359287" y="780743"/>
            <a:ext cx="2582292" cy="3582014"/>
          </a:xfrm>
          <a:prstGeom prst="rect">
            <a:avLst/>
          </a:prstGeom>
        </p:spPr>
      </p:pic>
      <p:cxnSp>
        <p:nvCxnSpPr>
          <p:cNvPr id="12" name="Connecteur droit 11">
            <a:extLst>
              <a:ext uri="{FF2B5EF4-FFF2-40B4-BE49-F238E27FC236}">
                <a16:creationId xmlns:a16="http://schemas.microsoft.com/office/drawing/2014/main" id="{3055313A-9333-02C1-D02A-036995F099A4}"/>
              </a:ext>
            </a:extLst>
          </p:cNvPr>
          <p:cNvCxnSpPr>
            <a:cxnSpLocks/>
          </p:cNvCxnSpPr>
          <p:nvPr/>
        </p:nvCxnSpPr>
        <p:spPr>
          <a:xfrm>
            <a:off x="3075731" y="4173081"/>
            <a:ext cx="65233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
                <a:extLst>
                  <a:ext uri="{FF2B5EF4-FFF2-40B4-BE49-F238E27FC236}">
                    <a16:creationId xmlns:a16="http://schemas.microsoft.com/office/drawing/2014/main" id="{DD928EB1-2986-3853-8090-E9F126321F44}"/>
                  </a:ext>
                </a:extLst>
              </p:cNvPr>
              <p:cNvSpPr txBox="1"/>
              <p:nvPr/>
            </p:nvSpPr>
            <p:spPr>
              <a:xfrm>
                <a:off x="3087805" y="3945084"/>
                <a:ext cx="628189" cy="2152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dirty="0" smtClean="0">
                          <a:solidFill>
                            <a:schemeClr val="bg1"/>
                          </a:solidFill>
                          <a:latin typeface="Cambria Math" panose="02040503050406030204" pitchFamily="18" charset="0"/>
                          <a:cs typeface="Arial" panose="020B0604020202020204" pitchFamily="34" charset="0"/>
                        </a:rPr>
                        <m:t>5 </m:t>
                      </m:r>
                      <m:r>
                        <m:rPr>
                          <m:sty m:val="p"/>
                        </m:rPr>
                        <a:rPr lang="fr-FR" sz="800" b="0" i="0" dirty="0" smtClean="0">
                          <a:solidFill>
                            <a:schemeClr val="bg1"/>
                          </a:solidFill>
                          <a:latin typeface="Cambria Math" panose="02040503050406030204" pitchFamily="18" charset="0"/>
                          <a:cs typeface="Arial" panose="020B0604020202020204" pitchFamily="34" charset="0"/>
                        </a:rPr>
                        <m:t>cm</m:t>
                      </m:r>
                    </m:oMath>
                  </m:oMathPara>
                </a14:m>
                <a:endParaRPr lang="fr-FR" sz="800" dirty="0">
                  <a:solidFill>
                    <a:schemeClr val="bg1"/>
                  </a:solidFill>
                  <a:latin typeface="Arial" panose="020B0604020202020204" pitchFamily="34" charset="0"/>
                  <a:cs typeface="Arial" panose="020B0604020202020204" pitchFamily="34" charset="0"/>
                </a:endParaRPr>
              </a:p>
            </p:txBody>
          </p:sp>
        </mc:Choice>
        <mc:Fallback xmlns="">
          <p:sp>
            <p:nvSpPr>
              <p:cNvPr id="13" name="ZoneTexte 1">
                <a:extLst>
                  <a:ext uri="{FF2B5EF4-FFF2-40B4-BE49-F238E27FC236}">
                    <a16:creationId xmlns:a16="http://schemas.microsoft.com/office/drawing/2014/main" id="{DD928EB1-2986-3853-8090-E9F126321F44}"/>
                  </a:ext>
                </a:extLst>
              </p:cNvPr>
              <p:cNvSpPr txBox="1">
                <a:spLocks noRot="1" noChangeAspect="1" noMove="1" noResize="1" noEditPoints="1" noAdjustHandles="1" noChangeArrowheads="1" noChangeShapeType="1" noTextEdit="1"/>
              </p:cNvSpPr>
              <p:nvPr/>
            </p:nvSpPr>
            <p:spPr>
              <a:xfrm>
                <a:off x="3087805" y="3945084"/>
                <a:ext cx="628189" cy="215224"/>
              </a:xfrm>
              <a:prstGeom prst="rect">
                <a:avLst/>
              </a:prstGeom>
              <a:blipFill>
                <a:blip r:embed="rId7"/>
                <a:stretch>
                  <a:fillRect/>
                </a:stretch>
              </a:blipFill>
            </p:spPr>
            <p:txBody>
              <a:bodyPr/>
              <a:lstStyle/>
              <a:p>
                <a:r>
                  <a:rPr lang="en-GB">
                    <a:noFill/>
                  </a:rPr>
                  <a:t> </a:t>
                </a:r>
              </a:p>
            </p:txBody>
          </p:sp>
        </mc:Fallback>
      </mc:AlternateContent>
      <p:sp>
        <p:nvSpPr>
          <p:cNvPr id="14" name="Espace réservé du texte 11">
            <a:extLst>
              <a:ext uri="{FF2B5EF4-FFF2-40B4-BE49-F238E27FC236}">
                <a16:creationId xmlns:a16="http://schemas.microsoft.com/office/drawing/2014/main" id="{A246AF0D-703E-000B-EF82-49D024CE8EE6}"/>
              </a:ext>
            </a:extLst>
          </p:cNvPr>
          <p:cNvSpPr txBox="1">
            <a:spLocks/>
          </p:cNvSpPr>
          <p:nvPr/>
        </p:nvSpPr>
        <p:spPr>
          <a:xfrm>
            <a:off x="2040182" y="518746"/>
            <a:ext cx="1490537" cy="145744"/>
          </a:xfrm>
          <a:prstGeom prst="roundRect">
            <a:avLst>
              <a:gd name="adj" fmla="val 33309"/>
            </a:avLst>
          </a:prstGeom>
          <a:solidFill>
            <a:schemeClr val="bg1">
              <a:alpha val="69804"/>
            </a:schemeClr>
          </a:solidFill>
          <a:ln w="12700">
            <a:solidFill>
              <a:schemeClr val="tx1"/>
            </a:solidFill>
            <a:prstDash val="solid"/>
          </a:ln>
        </p:spPr>
        <p:txBody>
          <a:bodyPr vert="horz" lIns="91440" tIns="45720" rIns="91440" bIns="4572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sz="1200" kern="1200">
                <a:solidFill>
                  <a:schemeClr val="bg2">
                    <a:lumMod val="5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000" dirty="0" err="1">
                <a:solidFill>
                  <a:schemeClr val="tx1"/>
                </a:solidFill>
              </a:rPr>
              <a:t>Higher</a:t>
            </a:r>
            <a:r>
              <a:rPr lang="fr-FR" sz="1000" dirty="0">
                <a:solidFill>
                  <a:schemeClr val="tx1"/>
                </a:solidFill>
              </a:rPr>
              <a:t> plants</a:t>
            </a:r>
            <a:endParaRPr lang="fr-FR" sz="1000" u="sng" dirty="0">
              <a:solidFill>
                <a:schemeClr val="tx1"/>
              </a:solidFill>
            </a:endParaRPr>
          </a:p>
        </p:txBody>
      </p:sp>
    </p:spTree>
    <p:extLst>
      <p:ext uri="{BB962C8B-B14F-4D97-AF65-F5344CB8AC3E}">
        <p14:creationId xmlns:p14="http://schemas.microsoft.com/office/powerpoint/2010/main" val="137473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8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mute="1">
                <p:cTn id="12" repeatCount="indefinite" fill="hold" display="0">
                  <p:stCondLst>
                    <p:cond delay="indefinite"/>
                  </p:stCondLst>
                </p:cTn>
                <p:tgtEl>
                  <p:spTgt spid="11"/>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06A086-D40E-D076-9346-8A772E7EDD3F}"/>
              </a:ext>
            </a:extLst>
          </p:cNvPr>
          <p:cNvSpPr>
            <a:spLocks noGrp="1"/>
          </p:cNvSpPr>
          <p:nvPr>
            <p:ph type="title"/>
          </p:nvPr>
        </p:nvSpPr>
        <p:spPr/>
        <p:txBody>
          <a:bodyPr/>
          <a:lstStyle/>
          <a:p>
            <a:r>
              <a:rPr lang="fr-FR" dirty="0" err="1"/>
              <a:t>Photosynthesis</a:t>
            </a:r>
            <a:r>
              <a:rPr lang="fr-FR" dirty="0"/>
              <a:t> in (</a:t>
            </a:r>
            <a:r>
              <a:rPr lang="fr-FR" dirty="0" err="1"/>
              <a:t>too</a:t>
            </a:r>
            <a:r>
              <a:rPr lang="fr-FR" dirty="0"/>
              <a:t>) brief</a:t>
            </a:r>
            <a:endParaRPr lang="en-GB" dirty="0"/>
          </a:p>
        </p:txBody>
      </p:sp>
      <p:sp>
        <p:nvSpPr>
          <p:cNvPr id="3" name="Espace réservé du numéro de diapositive 2">
            <a:extLst>
              <a:ext uri="{FF2B5EF4-FFF2-40B4-BE49-F238E27FC236}">
                <a16:creationId xmlns:a16="http://schemas.microsoft.com/office/drawing/2014/main" id="{EE4653BD-9AB5-A155-B536-335FBD279409}"/>
              </a:ext>
            </a:extLst>
          </p:cNvPr>
          <p:cNvSpPr>
            <a:spLocks noGrp="1"/>
          </p:cNvSpPr>
          <p:nvPr>
            <p:ph type="sldNum" sz="quarter" idx="12"/>
          </p:nvPr>
        </p:nvSpPr>
        <p:spPr/>
        <p:txBody>
          <a:bodyPr/>
          <a:lstStyle/>
          <a:p>
            <a:fld id="{E9791B11-EC80-479C-9EB2-AD35BA691394}" type="slidenum">
              <a:rPr lang="fr-FR" smtClean="0"/>
              <a:pPr/>
              <a:t>3</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BDD26F5-2299-E20A-7BF6-52D274F26F72}"/>
                  </a:ext>
                </a:extLst>
              </p:cNvPr>
              <p:cNvSpPr txBox="1"/>
              <p:nvPr/>
            </p:nvSpPr>
            <p:spPr>
              <a:xfrm>
                <a:off x="2966497" y="2312224"/>
                <a:ext cx="3211007" cy="5190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water</m:t>
                      </m:r>
                      <m:r>
                        <a:rPr lang="fr-FR" b="0" i="1" smtClean="0">
                          <a:latin typeface="Cambria Math" panose="02040503050406030204" pitchFamily="18" charset="0"/>
                        </a:rPr>
                        <m:t>+</m:t>
                      </m:r>
                      <m:r>
                        <a:rPr lang="fr-FR" b="0" i="1" smtClean="0">
                          <a:latin typeface="Cambria Math" panose="02040503050406030204" pitchFamily="18" charset="0"/>
                        </a:rPr>
                        <m:t>𝐶</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2</m:t>
                          </m:r>
                        </m:sub>
                      </m:sSub>
                      <m:groupChr>
                        <m:groupChrPr>
                          <m:chr m:val="→"/>
                          <m:vertJc m:val="bot"/>
                          <m:ctrlPr>
                            <a:rPr lang="fr-FR" b="0" i="1" smtClean="0">
                              <a:latin typeface="Cambria Math" panose="02040503050406030204" pitchFamily="18" charset="0"/>
                            </a:rPr>
                          </m:ctrlPr>
                        </m:groupChrPr>
                        <m:e>
                          <m:r>
                            <m:rPr>
                              <m:nor/>
                            </m:rPr>
                            <a:rPr lang="fr-FR" b="0" i="0" smtClean="0">
                              <a:latin typeface="Cambria Math" panose="02040503050406030204" pitchFamily="18" charset="0"/>
                            </a:rPr>
                            <m:t>light</m:t>
                          </m:r>
                        </m:e>
                      </m:groupChr>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2</m:t>
                          </m:r>
                        </m:sub>
                      </m:sSub>
                      <m:r>
                        <a:rPr lang="fr-FR" b="0" i="1" smtClean="0">
                          <a:latin typeface="Cambria Math" panose="02040503050406030204" pitchFamily="18" charset="0"/>
                        </a:rPr>
                        <m:t>+</m:t>
                      </m:r>
                      <m:r>
                        <m:rPr>
                          <m:sty m:val="p"/>
                        </m:rPr>
                        <a:rPr lang="fr-FR" b="0" i="0" smtClean="0">
                          <a:latin typeface="Cambria Math" panose="02040503050406030204" pitchFamily="18" charset="0"/>
                        </a:rPr>
                        <m:t>sugar</m:t>
                      </m:r>
                    </m:oMath>
                  </m:oMathPara>
                </a14:m>
                <a:endParaRPr lang="en-GB" dirty="0"/>
              </a:p>
            </p:txBody>
          </p:sp>
        </mc:Choice>
        <mc:Fallback xmlns="">
          <p:sp>
            <p:nvSpPr>
              <p:cNvPr id="5" name="ZoneTexte 4">
                <a:extLst>
                  <a:ext uri="{FF2B5EF4-FFF2-40B4-BE49-F238E27FC236}">
                    <a16:creationId xmlns:a16="http://schemas.microsoft.com/office/drawing/2014/main" id="{6BDD26F5-2299-E20A-7BF6-52D274F26F72}"/>
                  </a:ext>
                </a:extLst>
              </p:cNvPr>
              <p:cNvSpPr txBox="1">
                <a:spLocks noRot="1" noChangeAspect="1" noMove="1" noResize="1" noEditPoints="1" noAdjustHandles="1" noChangeArrowheads="1" noChangeShapeType="1" noTextEdit="1"/>
              </p:cNvSpPr>
              <p:nvPr/>
            </p:nvSpPr>
            <p:spPr>
              <a:xfrm>
                <a:off x="2966497" y="2312224"/>
                <a:ext cx="3211007" cy="519053"/>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3320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37BA47-5D55-4560-CBE8-CDA13A88B7CC}"/>
              </a:ext>
            </a:extLst>
          </p:cNvPr>
          <p:cNvSpPr>
            <a:spLocks noGrp="1"/>
          </p:cNvSpPr>
          <p:nvPr>
            <p:ph type="title"/>
          </p:nvPr>
        </p:nvSpPr>
        <p:spPr/>
        <p:txBody>
          <a:bodyPr/>
          <a:lstStyle/>
          <a:p>
            <a:r>
              <a:rPr lang="fr-FR" dirty="0"/>
              <a:t>Light </a:t>
            </a:r>
            <a:r>
              <a:rPr lang="fr-FR" dirty="0" err="1"/>
              <a:t>reaction</a:t>
            </a:r>
            <a:endParaRPr lang="en-GB" dirty="0"/>
          </a:p>
        </p:txBody>
      </p:sp>
      <p:sp>
        <p:nvSpPr>
          <p:cNvPr id="3" name="Espace réservé du numéro de diapositive 2">
            <a:extLst>
              <a:ext uri="{FF2B5EF4-FFF2-40B4-BE49-F238E27FC236}">
                <a16:creationId xmlns:a16="http://schemas.microsoft.com/office/drawing/2014/main" id="{4FDF9D5A-C1FF-98DC-39C5-ADB8DD74484C}"/>
              </a:ext>
            </a:extLst>
          </p:cNvPr>
          <p:cNvSpPr>
            <a:spLocks noGrp="1"/>
          </p:cNvSpPr>
          <p:nvPr>
            <p:ph type="sldNum" sz="quarter" idx="12"/>
          </p:nvPr>
        </p:nvSpPr>
        <p:spPr/>
        <p:txBody>
          <a:bodyPr/>
          <a:lstStyle/>
          <a:p>
            <a:fld id="{E9791B11-EC80-479C-9EB2-AD35BA691394}" type="slidenum">
              <a:rPr lang="fr-FR" smtClean="0"/>
              <a:pPr/>
              <a:t>4</a:t>
            </a:fld>
            <a:endParaRPr lang="fr-FR" dirty="0"/>
          </a:p>
        </p:txBody>
      </p:sp>
      <p:sp>
        <p:nvSpPr>
          <p:cNvPr id="5" name="Text Box 9">
            <a:extLst>
              <a:ext uri="{FF2B5EF4-FFF2-40B4-BE49-F238E27FC236}">
                <a16:creationId xmlns:a16="http://schemas.microsoft.com/office/drawing/2014/main" id="{1CADECD7-5158-A2A6-FA19-172E61346428}"/>
              </a:ext>
            </a:extLst>
          </p:cNvPr>
          <p:cNvSpPr txBox="1">
            <a:spLocks noChangeArrowheads="1"/>
          </p:cNvSpPr>
          <p:nvPr/>
        </p:nvSpPr>
        <p:spPr bwMode="auto">
          <a:xfrm>
            <a:off x="-1408" y="3563963"/>
            <a:ext cx="246734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PhD Thesis Mammadov </a:t>
            </a:r>
            <a:r>
              <a:rPr lang="en-GB" altLang="fr-FR" sz="1000" i="1" dirty="0" err="1">
                <a:cs typeface="Times New Roman" panose="02020603050405020304" pitchFamily="18" charset="0"/>
              </a:rPr>
              <a:t>Gulmammad</a:t>
            </a:r>
            <a:r>
              <a:rPr lang="en-GB" altLang="fr-FR" sz="1000" i="1" dirty="0">
                <a:cs typeface="Times New Roman" panose="02020603050405020304" pitchFamily="18" charset="0"/>
              </a:rPr>
              <a:t>, 2015.</a:t>
            </a:r>
            <a:endParaRPr lang="en-US" altLang="fr-FR" sz="1000" i="1" dirty="0">
              <a:cs typeface="Times New Roman" panose="02020603050405020304" pitchFamily="18" charset="0"/>
            </a:endParaRPr>
          </a:p>
        </p:txBody>
      </p:sp>
      <p:pic>
        <p:nvPicPr>
          <p:cNvPr id="2052" name="Picture 4" descr="Energy gain">
            <a:extLst>
              <a:ext uri="{FF2B5EF4-FFF2-40B4-BE49-F238E27FC236}">
                <a16:creationId xmlns:a16="http://schemas.microsoft.com/office/drawing/2014/main" id="{12773020-6770-3A17-65B4-2AA5C61A2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0920" y="535356"/>
            <a:ext cx="1828800" cy="19125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nergy loss">
            <a:extLst>
              <a:ext uri="{FF2B5EF4-FFF2-40B4-BE49-F238E27FC236}">
                <a16:creationId xmlns:a16="http://schemas.microsoft.com/office/drawing/2014/main" id="{246E862E-473A-9EA8-9C57-8CC1010B40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7446" y="2723976"/>
            <a:ext cx="1822274" cy="1764554"/>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9">
            <a:extLst>
              <a:ext uri="{FF2B5EF4-FFF2-40B4-BE49-F238E27FC236}">
                <a16:creationId xmlns:a16="http://schemas.microsoft.com/office/drawing/2014/main" id="{D0E937F1-36B8-80D6-5D1F-BC948E4EFF3E}"/>
              </a:ext>
            </a:extLst>
          </p:cNvPr>
          <p:cNvSpPr txBox="1">
            <a:spLocks noChangeArrowheads="1"/>
          </p:cNvSpPr>
          <p:nvPr/>
        </p:nvSpPr>
        <p:spPr bwMode="auto">
          <a:xfrm>
            <a:off x="7033864" y="4518367"/>
            <a:ext cx="206659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Energy gain and loss. Tom Michaels</a:t>
            </a:r>
            <a:endParaRPr lang="en-US" altLang="fr-FR" sz="1000" i="1" dirty="0">
              <a:cs typeface="Times New Roman" panose="02020603050405020304" pitchFamily="18" charset="0"/>
            </a:endParaRPr>
          </a:p>
        </p:txBody>
      </p:sp>
      <p:grpSp>
        <p:nvGrpSpPr>
          <p:cNvPr id="8" name="Groupe 7">
            <a:extLst>
              <a:ext uri="{FF2B5EF4-FFF2-40B4-BE49-F238E27FC236}">
                <a16:creationId xmlns:a16="http://schemas.microsoft.com/office/drawing/2014/main" id="{399ECB71-1C56-4FFE-2F98-4D60CF80112F}"/>
              </a:ext>
            </a:extLst>
          </p:cNvPr>
          <p:cNvGrpSpPr/>
          <p:nvPr/>
        </p:nvGrpSpPr>
        <p:grpSpPr>
          <a:xfrm>
            <a:off x="-1408" y="1150486"/>
            <a:ext cx="6393845" cy="2433925"/>
            <a:chOff x="96390" y="1628229"/>
            <a:chExt cx="5352115" cy="2037373"/>
          </a:xfrm>
        </p:grpSpPr>
        <p:pic>
          <p:nvPicPr>
            <p:cNvPr id="2056" name="Picture 8" descr="Spectra of chlorophyll dissolved in diethyl ether The absorption and the emission spectra are based on the data provided for chlorophyll a and chlorophyll b dissolved in diethyl ether (Oregon Medical Laser Center, 2012). Each spectrum is normalized with respect to its maximum intensity. Chlorophyll a, which is the most abundant pigment in chloroplasts, shows absorption maxima at approximately 428-and 660-nm, and peak emission at 666-nm. Chlorophyll b, though not as abundant in chloroplasts as chlorophyll a is, has approximate absorption maxima at 453-and 643-nm, and emission maximum at 644-nm.">
              <a:extLst>
                <a:ext uri="{FF2B5EF4-FFF2-40B4-BE49-F238E27FC236}">
                  <a16:creationId xmlns:a16="http://schemas.microsoft.com/office/drawing/2014/main" id="{33B1DB5D-48D8-006D-E542-2C3A53ECD1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90" y="1638095"/>
              <a:ext cx="5352115" cy="202750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hlorophyll A &amp; B Absorption Spectrum">
              <a:extLst>
                <a:ext uri="{FF2B5EF4-FFF2-40B4-BE49-F238E27FC236}">
                  <a16:creationId xmlns:a16="http://schemas.microsoft.com/office/drawing/2014/main" id="{A7721D59-35DA-61A8-4BC4-38814D11CB7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85" t="14008" r="3468" b="77458"/>
            <a:stretch/>
          </p:blipFill>
          <p:spPr bwMode="auto">
            <a:xfrm>
              <a:off x="467468" y="1651509"/>
              <a:ext cx="2177307" cy="881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hlorophyll A &amp; B Absorption Spectrum">
              <a:extLst>
                <a:ext uri="{FF2B5EF4-FFF2-40B4-BE49-F238E27FC236}">
                  <a16:creationId xmlns:a16="http://schemas.microsoft.com/office/drawing/2014/main" id="{DC6119F8-BE42-4F34-265F-59620315A7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85" t="14008" r="3468" b="77458"/>
            <a:stretch/>
          </p:blipFill>
          <p:spPr bwMode="auto">
            <a:xfrm>
              <a:off x="3136131" y="1628229"/>
              <a:ext cx="2177307" cy="8811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12118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8F9DAF-8992-1ECD-B0ED-B26BFC936B51}"/>
              </a:ext>
            </a:extLst>
          </p:cNvPr>
          <p:cNvSpPr>
            <a:spLocks noGrp="1"/>
          </p:cNvSpPr>
          <p:nvPr>
            <p:ph type="title"/>
          </p:nvPr>
        </p:nvSpPr>
        <p:spPr/>
        <p:txBody>
          <a:bodyPr/>
          <a:lstStyle/>
          <a:p>
            <a:r>
              <a:rPr lang="fr-FR" dirty="0" err="1"/>
              <a:t>Chloroplast</a:t>
            </a:r>
            <a:endParaRPr lang="en-GB" dirty="0"/>
          </a:p>
        </p:txBody>
      </p:sp>
      <p:sp>
        <p:nvSpPr>
          <p:cNvPr id="3" name="Espace réservé du numéro de diapositive 2">
            <a:extLst>
              <a:ext uri="{FF2B5EF4-FFF2-40B4-BE49-F238E27FC236}">
                <a16:creationId xmlns:a16="http://schemas.microsoft.com/office/drawing/2014/main" id="{CC5D58A8-D6D3-1692-65F7-F32EDDB2888C}"/>
              </a:ext>
            </a:extLst>
          </p:cNvPr>
          <p:cNvSpPr>
            <a:spLocks noGrp="1"/>
          </p:cNvSpPr>
          <p:nvPr>
            <p:ph type="sldNum" sz="quarter" idx="12"/>
          </p:nvPr>
        </p:nvSpPr>
        <p:spPr/>
        <p:txBody>
          <a:bodyPr/>
          <a:lstStyle/>
          <a:p>
            <a:fld id="{E9791B11-EC80-479C-9EB2-AD35BA691394}" type="slidenum">
              <a:rPr lang="fr-FR" smtClean="0"/>
              <a:pPr/>
              <a:t>5</a:t>
            </a:fld>
            <a:endParaRPr lang="fr-FR" dirty="0"/>
          </a:p>
        </p:txBody>
      </p:sp>
      <p:pic>
        <p:nvPicPr>
          <p:cNvPr id="1026" name="Picture 2">
            <a:extLst>
              <a:ext uri="{FF2B5EF4-FFF2-40B4-BE49-F238E27FC236}">
                <a16:creationId xmlns:a16="http://schemas.microsoft.com/office/drawing/2014/main" id="{915E0389-2DC5-83C0-C5ED-E4CB93687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03" y="1152448"/>
            <a:ext cx="4645950" cy="3285936"/>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9">
            <a:extLst>
              <a:ext uri="{FF2B5EF4-FFF2-40B4-BE49-F238E27FC236}">
                <a16:creationId xmlns:a16="http://schemas.microsoft.com/office/drawing/2014/main" id="{34123906-7BAB-C2B2-95B1-A1A21FFF7F2C}"/>
              </a:ext>
            </a:extLst>
          </p:cNvPr>
          <p:cNvSpPr txBox="1">
            <a:spLocks noChangeArrowheads="1"/>
          </p:cNvSpPr>
          <p:nvPr/>
        </p:nvSpPr>
        <p:spPr bwMode="auto">
          <a:xfrm>
            <a:off x="0" y="4897279"/>
            <a:ext cx="362952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https://en.wikiversity.org/wiki/Biophysics/Introduction/Chloroplast</a:t>
            </a:r>
          </a:p>
        </p:txBody>
      </p:sp>
      <p:sp>
        <p:nvSpPr>
          <p:cNvPr id="8" name="Rounded Rectangle 30">
            <a:extLst>
              <a:ext uri="{FF2B5EF4-FFF2-40B4-BE49-F238E27FC236}">
                <a16:creationId xmlns:a16="http://schemas.microsoft.com/office/drawing/2014/main" id="{D46B636E-5299-9A80-A075-4A4AB3DC4716}"/>
              </a:ext>
            </a:extLst>
          </p:cNvPr>
          <p:cNvSpPr/>
          <p:nvPr/>
        </p:nvSpPr>
        <p:spPr>
          <a:xfrm>
            <a:off x="1706957" y="4337925"/>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tx1"/>
                </a:solidFill>
                <a:latin typeface="Times New Roman" panose="02020603050405020304" pitchFamily="18" charset="0"/>
                <a:cs typeface="Times New Roman" panose="02020603050405020304" pitchFamily="18" charset="0"/>
              </a:rPr>
              <a:t>Photo</a:t>
            </a:r>
          </a:p>
        </p:txBody>
      </p:sp>
      <p:sp>
        <p:nvSpPr>
          <p:cNvPr id="9" name="Rounded Rectangle 30">
            <a:extLst>
              <a:ext uri="{FF2B5EF4-FFF2-40B4-BE49-F238E27FC236}">
                <a16:creationId xmlns:a16="http://schemas.microsoft.com/office/drawing/2014/main" id="{EB924B96-E12F-8F6F-8F96-462BB6D4C255}"/>
              </a:ext>
            </a:extLst>
          </p:cNvPr>
          <p:cNvSpPr/>
          <p:nvPr/>
        </p:nvSpPr>
        <p:spPr>
          <a:xfrm>
            <a:off x="3873900" y="1051989"/>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Synthesis</a:t>
            </a:r>
            <a:endParaRPr lang="fr-FR" sz="1200" b="1" dirty="0">
              <a:solidFill>
                <a:schemeClr val="tx1"/>
              </a:solidFill>
              <a:latin typeface="Times New Roman" panose="02020603050405020304" pitchFamily="18" charset="0"/>
              <a:cs typeface="Times New Roman" panose="02020603050405020304" pitchFamily="18" charset="0"/>
            </a:endParaRPr>
          </a:p>
        </p:txBody>
      </p:sp>
      <p:pic>
        <p:nvPicPr>
          <p:cNvPr id="12" name="Image 11">
            <a:extLst>
              <a:ext uri="{FF2B5EF4-FFF2-40B4-BE49-F238E27FC236}">
                <a16:creationId xmlns:a16="http://schemas.microsoft.com/office/drawing/2014/main" id="{CAFF70C5-BC6A-3D37-3E5F-B0252CE7BDB1}"/>
              </a:ext>
            </a:extLst>
          </p:cNvPr>
          <p:cNvPicPr>
            <a:picLocks noChangeAspect="1"/>
          </p:cNvPicPr>
          <p:nvPr/>
        </p:nvPicPr>
        <p:blipFill>
          <a:blip r:embed="rId4"/>
          <a:stretch>
            <a:fillRect/>
          </a:stretch>
        </p:blipFill>
        <p:spPr>
          <a:xfrm>
            <a:off x="5643527" y="1189255"/>
            <a:ext cx="3157987" cy="2181345"/>
          </a:xfrm>
          <a:prstGeom prst="rect">
            <a:avLst/>
          </a:prstGeom>
        </p:spPr>
      </p:pic>
      <p:sp>
        <p:nvSpPr>
          <p:cNvPr id="13" name="Text Box 9">
            <a:extLst>
              <a:ext uri="{FF2B5EF4-FFF2-40B4-BE49-F238E27FC236}">
                <a16:creationId xmlns:a16="http://schemas.microsoft.com/office/drawing/2014/main" id="{88661446-6EEB-D059-C852-E30A476E1160}"/>
              </a:ext>
            </a:extLst>
          </p:cNvPr>
          <p:cNvSpPr txBox="1">
            <a:spLocks noChangeArrowheads="1"/>
          </p:cNvSpPr>
          <p:nvPr/>
        </p:nvSpPr>
        <p:spPr bwMode="auto">
          <a:xfrm>
            <a:off x="6586226" y="4897278"/>
            <a:ext cx="248657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sz="1000" i="1" dirty="0"/>
              <a:t>Allen et al, The Journal of cell biology, 1988</a:t>
            </a:r>
            <a:endParaRPr lang="en-US" altLang="fr-FR" sz="1000" i="1" dirty="0">
              <a:cs typeface="Times New Roman" panose="02020603050405020304" pitchFamily="18" charset="0"/>
            </a:endParaRPr>
          </a:p>
        </p:txBody>
      </p:sp>
      <p:sp>
        <p:nvSpPr>
          <p:cNvPr id="15" name="ZoneTexte 14">
            <a:extLst>
              <a:ext uri="{FF2B5EF4-FFF2-40B4-BE49-F238E27FC236}">
                <a16:creationId xmlns:a16="http://schemas.microsoft.com/office/drawing/2014/main" id="{73A68E71-3A9E-E7C3-AF9C-8F725C87ACA3}"/>
              </a:ext>
            </a:extLst>
          </p:cNvPr>
          <p:cNvSpPr txBox="1"/>
          <p:nvPr/>
        </p:nvSpPr>
        <p:spPr>
          <a:xfrm>
            <a:off x="6586226" y="3466003"/>
            <a:ext cx="1503938" cy="769441"/>
          </a:xfrm>
          <a:prstGeom prst="rect">
            <a:avLst/>
          </a:prstGeom>
          <a:noFill/>
        </p:spPr>
        <p:txBody>
          <a:bodyPr wrap="none" rtlCol="0">
            <a:spAutoFit/>
          </a:bodyPr>
          <a:lstStyle/>
          <a:p>
            <a:r>
              <a:rPr lang="fr-FR" sz="1100" dirty="0"/>
              <a:t>GT: grana </a:t>
            </a:r>
            <a:r>
              <a:rPr lang="fr-FR" sz="1100" dirty="0" err="1"/>
              <a:t>thylakoids</a:t>
            </a:r>
            <a:br>
              <a:rPr lang="fr-FR" sz="1100" dirty="0"/>
            </a:br>
            <a:r>
              <a:rPr lang="fr-FR" sz="1100" dirty="0"/>
              <a:t>ST: stromal </a:t>
            </a:r>
            <a:r>
              <a:rPr lang="fr-FR" sz="1100" dirty="0" err="1"/>
              <a:t>thylakoids</a:t>
            </a:r>
            <a:br>
              <a:rPr lang="fr-FR" sz="1100" dirty="0"/>
            </a:br>
            <a:r>
              <a:rPr lang="fr-FR" sz="1100" dirty="0"/>
              <a:t>PM: plasma </a:t>
            </a:r>
            <a:r>
              <a:rPr lang="fr-FR" sz="1100" dirty="0" err="1"/>
              <a:t>Mambrane</a:t>
            </a:r>
            <a:br>
              <a:rPr lang="fr-FR" sz="1100" dirty="0"/>
            </a:br>
            <a:r>
              <a:rPr lang="fr-FR" sz="1100" dirty="0"/>
              <a:t>PG: </a:t>
            </a:r>
            <a:r>
              <a:rPr lang="fr-FR" sz="1100" dirty="0" err="1"/>
              <a:t>plastoglobuli</a:t>
            </a:r>
            <a:endParaRPr lang="fr-FR" sz="1100" dirty="0"/>
          </a:p>
        </p:txBody>
      </p:sp>
      <p:pic>
        <p:nvPicPr>
          <p:cNvPr id="17" name="Image 16">
            <a:extLst>
              <a:ext uri="{FF2B5EF4-FFF2-40B4-BE49-F238E27FC236}">
                <a16:creationId xmlns:a16="http://schemas.microsoft.com/office/drawing/2014/main" id="{D9B8181D-9B14-60AD-5895-306ECC734ABC}"/>
              </a:ext>
            </a:extLst>
          </p:cNvPr>
          <p:cNvPicPr>
            <a:picLocks noChangeAspect="1"/>
          </p:cNvPicPr>
          <p:nvPr/>
        </p:nvPicPr>
        <p:blipFill>
          <a:blip r:embed="rId4"/>
          <a:srcRect l="6595" t="93014" r="90169" b="1539"/>
          <a:stretch>
            <a:fillRect/>
          </a:stretch>
        </p:blipFill>
        <p:spPr>
          <a:xfrm>
            <a:off x="5739788" y="3259374"/>
            <a:ext cx="102212" cy="118826"/>
          </a:xfrm>
          <a:prstGeom prst="rect">
            <a:avLst/>
          </a:prstGeom>
        </p:spPr>
      </p:pic>
      <p:pic>
        <p:nvPicPr>
          <p:cNvPr id="19" name="Image 18">
            <a:extLst>
              <a:ext uri="{FF2B5EF4-FFF2-40B4-BE49-F238E27FC236}">
                <a16:creationId xmlns:a16="http://schemas.microsoft.com/office/drawing/2014/main" id="{6F7747DE-2A73-D2FB-451E-530417819D30}"/>
              </a:ext>
            </a:extLst>
          </p:cNvPr>
          <p:cNvPicPr>
            <a:picLocks noChangeAspect="1"/>
          </p:cNvPicPr>
          <p:nvPr/>
        </p:nvPicPr>
        <p:blipFill>
          <a:blip r:embed="rId4"/>
          <a:srcRect l="6595" t="93014" r="90169" b="1539"/>
          <a:stretch>
            <a:fillRect/>
          </a:stretch>
        </p:blipFill>
        <p:spPr>
          <a:xfrm>
            <a:off x="8464244" y="1544729"/>
            <a:ext cx="102212" cy="118826"/>
          </a:xfrm>
          <a:prstGeom prst="rect">
            <a:avLst/>
          </a:prstGeom>
        </p:spPr>
      </p:pic>
    </p:spTree>
    <p:extLst>
      <p:ext uri="{BB962C8B-B14F-4D97-AF65-F5344CB8AC3E}">
        <p14:creationId xmlns:p14="http://schemas.microsoft.com/office/powerpoint/2010/main" val="393857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DBB16-B868-1020-6A9C-6CFFE9772998}"/>
              </a:ext>
            </a:extLst>
          </p:cNvPr>
          <p:cNvSpPr>
            <a:spLocks noGrp="1"/>
          </p:cNvSpPr>
          <p:nvPr>
            <p:ph type="title"/>
          </p:nvPr>
        </p:nvSpPr>
        <p:spPr/>
        <p:txBody>
          <a:bodyPr/>
          <a:lstStyle/>
          <a:p>
            <a:r>
              <a:rPr lang="fr-FR" dirty="0"/>
              <a:t>The </a:t>
            </a:r>
            <a:r>
              <a:rPr lang="fr-FR" dirty="0" err="1"/>
              <a:t>photosynthetic</a:t>
            </a:r>
            <a:r>
              <a:rPr lang="fr-FR" dirty="0"/>
              <a:t> system</a:t>
            </a:r>
            <a:endParaRPr lang="en-GB" dirty="0"/>
          </a:p>
        </p:txBody>
      </p:sp>
      <p:sp>
        <p:nvSpPr>
          <p:cNvPr id="3" name="Espace réservé du numéro de diapositive 2">
            <a:extLst>
              <a:ext uri="{FF2B5EF4-FFF2-40B4-BE49-F238E27FC236}">
                <a16:creationId xmlns:a16="http://schemas.microsoft.com/office/drawing/2014/main" id="{849F5CCB-5444-80EF-C33B-BFA50D997592}"/>
              </a:ext>
            </a:extLst>
          </p:cNvPr>
          <p:cNvSpPr>
            <a:spLocks noGrp="1"/>
          </p:cNvSpPr>
          <p:nvPr>
            <p:ph type="sldNum" sz="quarter" idx="12"/>
          </p:nvPr>
        </p:nvSpPr>
        <p:spPr/>
        <p:txBody>
          <a:bodyPr/>
          <a:lstStyle/>
          <a:p>
            <a:fld id="{E9791B11-EC80-479C-9EB2-AD35BA691394}" type="slidenum">
              <a:rPr lang="fr-FR" smtClean="0"/>
              <a:pPr/>
              <a:t>6</a:t>
            </a:fld>
            <a:endParaRPr lang="fr-FR" dirty="0"/>
          </a:p>
        </p:txBody>
      </p:sp>
      <p:pic>
        <p:nvPicPr>
          <p:cNvPr id="5" name="Image 4">
            <a:extLst>
              <a:ext uri="{FF2B5EF4-FFF2-40B4-BE49-F238E27FC236}">
                <a16:creationId xmlns:a16="http://schemas.microsoft.com/office/drawing/2014/main" id="{D742EF2D-7298-C0DF-D97D-FF1D28CEF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428" y="369363"/>
            <a:ext cx="3552346" cy="4709978"/>
          </a:xfrm>
          <a:prstGeom prst="rect">
            <a:avLst/>
          </a:prstGeom>
        </p:spPr>
      </p:pic>
      <p:sp>
        <p:nvSpPr>
          <p:cNvPr id="12" name="Rounded Rectangle 30">
            <a:extLst>
              <a:ext uri="{FF2B5EF4-FFF2-40B4-BE49-F238E27FC236}">
                <a16:creationId xmlns:a16="http://schemas.microsoft.com/office/drawing/2014/main" id="{956D2A8F-1466-DE52-2B27-F0A38B56DE36}"/>
              </a:ext>
            </a:extLst>
          </p:cNvPr>
          <p:cNvSpPr/>
          <p:nvPr/>
        </p:nvSpPr>
        <p:spPr>
          <a:xfrm>
            <a:off x="754055" y="4147151"/>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tx1"/>
                </a:solidFill>
                <a:latin typeface="Times New Roman" panose="02020603050405020304" pitchFamily="18" charset="0"/>
                <a:cs typeface="Times New Roman" panose="02020603050405020304" pitchFamily="18" charset="0"/>
              </a:rPr>
              <a:t>Photo</a:t>
            </a:r>
          </a:p>
        </p:txBody>
      </p:sp>
      <p:sp>
        <p:nvSpPr>
          <p:cNvPr id="13" name="Rounded Rectangle 30">
            <a:extLst>
              <a:ext uri="{FF2B5EF4-FFF2-40B4-BE49-F238E27FC236}">
                <a16:creationId xmlns:a16="http://schemas.microsoft.com/office/drawing/2014/main" id="{A24065A6-A3E5-2CCD-13B8-3721FA9C699F}"/>
              </a:ext>
            </a:extLst>
          </p:cNvPr>
          <p:cNvSpPr/>
          <p:nvPr/>
        </p:nvSpPr>
        <p:spPr>
          <a:xfrm>
            <a:off x="754055" y="2354240"/>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Synthesis</a:t>
            </a:r>
            <a:endParaRPr lang="fr-FR" sz="12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608E8363-C5BB-74A0-1E2B-CE0417ED59E4}"/>
                  </a:ext>
                </a:extLst>
              </p:cNvPr>
              <p:cNvSpPr txBox="1"/>
              <p:nvPr/>
            </p:nvSpPr>
            <p:spPr>
              <a:xfrm>
                <a:off x="5932993" y="4348069"/>
                <a:ext cx="3211007" cy="5190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solidFill>
                            <a:schemeClr val="accent1"/>
                          </a:solidFill>
                          <a:latin typeface="Cambria Math" panose="02040503050406030204" pitchFamily="18" charset="0"/>
                        </a:rPr>
                        <m:t>water</m:t>
                      </m:r>
                      <m:r>
                        <a:rPr lang="fr-FR" b="0" i="1" smtClean="0">
                          <a:latin typeface="Cambria Math" panose="02040503050406030204" pitchFamily="18" charset="0"/>
                        </a:rPr>
                        <m:t>+</m:t>
                      </m:r>
                      <m:r>
                        <a:rPr lang="fr-FR" b="0" i="1" smtClean="0">
                          <a:solidFill>
                            <a:srgbClr val="F19E1F"/>
                          </a:solidFill>
                          <a:latin typeface="Cambria Math" panose="02040503050406030204" pitchFamily="18" charset="0"/>
                        </a:rPr>
                        <m:t>𝐶</m:t>
                      </m:r>
                      <m:sSub>
                        <m:sSubPr>
                          <m:ctrlPr>
                            <a:rPr lang="fr-FR" b="0" i="1" smtClean="0">
                              <a:solidFill>
                                <a:srgbClr val="F19E1F"/>
                              </a:solidFill>
                              <a:latin typeface="Cambria Math" panose="02040503050406030204" pitchFamily="18" charset="0"/>
                            </a:rPr>
                          </m:ctrlPr>
                        </m:sSubPr>
                        <m:e>
                          <m:r>
                            <a:rPr lang="fr-FR" b="0" i="1" smtClean="0">
                              <a:solidFill>
                                <a:srgbClr val="F19E1F"/>
                              </a:solidFill>
                              <a:latin typeface="Cambria Math" panose="02040503050406030204" pitchFamily="18" charset="0"/>
                            </a:rPr>
                            <m:t>𝑂</m:t>
                          </m:r>
                        </m:e>
                        <m:sub>
                          <m:r>
                            <a:rPr lang="fr-FR" b="0" i="1" smtClean="0">
                              <a:solidFill>
                                <a:srgbClr val="F19E1F"/>
                              </a:solidFill>
                              <a:latin typeface="Cambria Math" panose="02040503050406030204" pitchFamily="18" charset="0"/>
                            </a:rPr>
                            <m:t>2</m:t>
                          </m:r>
                        </m:sub>
                      </m:sSub>
                      <m:groupChr>
                        <m:groupChrPr>
                          <m:chr m:val="→"/>
                          <m:vertJc m:val="bot"/>
                          <m:ctrlPr>
                            <a:rPr lang="fr-FR" b="0" i="1" smtClean="0">
                              <a:latin typeface="Cambria Math" panose="02040503050406030204" pitchFamily="18" charset="0"/>
                            </a:rPr>
                          </m:ctrlPr>
                        </m:groupChrPr>
                        <m:e>
                          <m:r>
                            <m:rPr>
                              <m:nor/>
                            </m:rPr>
                            <a:rPr lang="fr-FR" b="0" i="0" smtClean="0">
                              <a:solidFill>
                                <a:schemeClr val="accent1"/>
                              </a:solidFill>
                              <a:latin typeface="Cambria Math" panose="02040503050406030204" pitchFamily="18" charset="0"/>
                            </a:rPr>
                            <m:t>l</m:t>
                          </m:r>
                          <m:r>
                            <m:rPr>
                              <m:nor/>
                            </m:rPr>
                            <a:rPr lang="fr-FR" b="0" i="0" smtClean="0">
                              <a:solidFill>
                                <a:schemeClr val="accent5"/>
                              </a:solidFill>
                              <a:latin typeface="Cambria Math" panose="02040503050406030204" pitchFamily="18" charset="0"/>
                            </a:rPr>
                            <m:t>i</m:t>
                          </m:r>
                          <m:r>
                            <m:rPr>
                              <m:nor/>
                            </m:rPr>
                            <a:rPr lang="fr-FR" b="0" i="0" smtClean="0">
                              <a:solidFill>
                                <a:srgbClr val="00B050"/>
                              </a:solidFill>
                              <a:latin typeface="Cambria Math" panose="02040503050406030204" pitchFamily="18" charset="0"/>
                            </a:rPr>
                            <m:t>g</m:t>
                          </m:r>
                          <m:r>
                            <m:rPr>
                              <m:nor/>
                            </m:rPr>
                            <a:rPr lang="fr-FR" b="0" i="0" smtClean="0">
                              <a:solidFill>
                                <a:srgbClr val="FFC000"/>
                              </a:solidFill>
                              <a:latin typeface="Cambria Math" panose="02040503050406030204" pitchFamily="18" charset="0"/>
                            </a:rPr>
                            <m:t>h</m:t>
                          </m:r>
                          <m:r>
                            <m:rPr>
                              <m:nor/>
                            </m:rPr>
                            <a:rPr lang="fr-FR" b="0" i="0" smtClean="0">
                              <a:solidFill>
                                <a:srgbClr val="FF0000"/>
                              </a:solidFill>
                              <a:latin typeface="Cambria Math" panose="02040503050406030204" pitchFamily="18" charset="0"/>
                            </a:rPr>
                            <m:t>t</m:t>
                          </m:r>
                        </m:e>
                      </m:groupCh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𝑂</m:t>
                          </m:r>
                        </m:e>
                        <m:sub>
                          <m:r>
                            <a:rPr lang="fr-FR" b="0" i="1" smtClean="0">
                              <a:solidFill>
                                <a:srgbClr val="00B050"/>
                              </a:solidFill>
                              <a:latin typeface="Cambria Math" panose="02040503050406030204" pitchFamily="18" charset="0"/>
                            </a:rPr>
                            <m:t>2</m:t>
                          </m:r>
                        </m:sub>
                      </m:sSub>
                      <m:r>
                        <a:rPr lang="fr-FR" b="0" i="1" smtClean="0">
                          <a:latin typeface="Cambria Math" panose="02040503050406030204" pitchFamily="18" charset="0"/>
                        </a:rPr>
                        <m:t>+</m:t>
                      </m:r>
                      <m:r>
                        <m:rPr>
                          <m:sty m:val="p"/>
                        </m:rPr>
                        <a:rPr lang="fr-FR" b="0" i="0" smtClean="0">
                          <a:solidFill>
                            <a:schemeClr val="accent5">
                              <a:lumMod val="75000"/>
                            </a:schemeClr>
                          </a:solidFill>
                          <a:latin typeface="Cambria Math" panose="02040503050406030204" pitchFamily="18" charset="0"/>
                        </a:rPr>
                        <m:t>sugar</m:t>
                      </m:r>
                    </m:oMath>
                  </m:oMathPara>
                </a14:m>
                <a:endParaRPr lang="en-GB" dirty="0"/>
              </a:p>
            </p:txBody>
          </p:sp>
        </mc:Choice>
        <mc:Fallback xmlns="">
          <p:sp>
            <p:nvSpPr>
              <p:cNvPr id="14" name="ZoneTexte 13">
                <a:extLst>
                  <a:ext uri="{FF2B5EF4-FFF2-40B4-BE49-F238E27FC236}">
                    <a16:creationId xmlns:a16="http://schemas.microsoft.com/office/drawing/2014/main" id="{608E8363-C5BB-74A0-1E2B-CE0417ED59E4}"/>
                  </a:ext>
                </a:extLst>
              </p:cNvPr>
              <p:cNvSpPr txBox="1">
                <a:spLocks noRot="1" noChangeAspect="1" noMove="1" noResize="1" noEditPoints="1" noAdjustHandles="1" noChangeArrowheads="1" noChangeShapeType="1" noTextEdit="1"/>
              </p:cNvSpPr>
              <p:nvPr/>
            </p:nvSpPr>
            <p:spPr>
              <a:xfrm>
                <a:off x="5932993" y="4348069"/>
                <a:ext cx="3211007" cy="519053"/>
              </a:xfrm>
              <a:prstGeom prst="rect">
                <a:avLst/>
              </a:prstGeom>
              <a:blipFill>
                <a:blip r:embed="rId4"/>
                <a:stretch>
                  <a:fillRect/>
                </a:stretch>
              </a:blipFill>
            </p:spPr>
            <p:txBody>
              <a:bodyPr/>
              <a:lstStyle/>
              <a:p>
                <a:r>
                  <a:rPr lang="en-GB">
                    <a:noFill/>
                  </a:rPr>
                  <a:t> </a:t>
                </a:r>
              </a:p>
            </p:txBody>
          </p:sp>
        </mc:Fallback>
      </mc:AlternateContent>
      <p:sp>
        <p:nvSpPr>
          <p:cNvPr id="15" name="Rectangle 14">
            <a:extLst>
              <a:ext uri="{FF2B5EF4-FFF2-40B4-BE49-F238E27FC236}">
                <a16:creationId xmlns:a16="http://schemas.microsoft.com/office/drawing/2014/main" id="{6DE471EF-45C8-39B2-5F39-F414BA3FB3F1}"/>
              </a:ext>
            </a:extLst>
          </p:cNvPr>
          <p:cNvSpPr/>
          <p:nvPr/>
        </p:nvSpPr>
        <p:spPr>
          <a:xfrm>
            <a:off x="2545847" y="1401203"/>
            <a:ext cx="486803" cy="190774"/>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AFF9E745-1ABA-7C7D-FC45-F45725302CEF}"/>
              </a:ext>
            </a:extLst>
          </p:cNvPr>
          <p:cNvSpPr/>
          <p:nvPr/>
        </p:nvSpPr>
        <p:spPr>
          <a:xfrm>
            <a:off x="2577465" y="4348068"/>
            <a:ext cx="291821" cy="22774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0A72A7F8-1C91-C328-6E90-2DA8B2D0B88F}"/>
              </a:ext>
            </a:extLst>
          </p:cNvPr>
          <p:cNvSpPr/>
          <p:nvPr/>
        </p:nvSpPr>
        <p:spPr>
          <a:xfrm>
            <a:off x="2959945" y="4348068"/>
            <a:ext cx="291821" cy="227741"/>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EE555BF9-45F7-9AE2-BFA4-37233822EF62}"/>
              </a:ext>
            </a:extLst>
          </p:cNvPr>
          <p:cNvSpPr/>
          <p:nvPr/>
        </p:nvSpPr>
        <p:spPr>
          <a:xfrm>
            <a:off x="4081284" y="599028"/>
            <a:ext cx="291821" cy="227741"/>
          </a:xfrm>
          <a:prstGeom prst="rect">
            <a:avLst/>
          </a:prstGeom>
          <a:noFill/>
          <a:ln w="28575">
            <a:solidFill>
              <a:srgbClr val="F19E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ZoneTexte 18">
            <a:extLst>
              <a:ext uri="{FF2B5EF4-FFF2-40B4-BE49-F238E27FC236}">
                <a16:creationId xmlns:a16="http://schemas.microsoft.com/office/drawing/2014/main" id="{9DA9A9F1-8C33-56A9-2104-B18C95FE1B3D}"/>
              </a:ext>
            </a:extLst>
          </p:cNvPr>
          <p:cNvSpPr txBox="1"/>
          <p:nvPr/>
        </p:nvSpPr>
        <p:spPr>
          <a:xfrm>
            <a:off x="4095545" y="4485751"/>
            <a:ext cx="601447" cy="276999"/>
          </a:xfrm>
          <a:prstGeom prst="rect">
            <a:avLst/>
          </a:prstGeom>
          <a:noFill/>
        </p:spPr>
        <p:txBody>
          <a:bodyPr wrap="none" rtlCol="0">
            <a:spAutoFit/>
          </a:bodyPr>
          <a:lstStyle/>
          <a:p>
            <a:r>
              <a:rPr lang="fr-FR" sz="1200" dirty="0">
                <a:latin typeface="Arial" panose="020B0604020202020204" pitchFamily="34" charset="0"/>
                <a:cs typeface="Arial" panose="020B0604020202020204" pitchFamily="34" charset="0"/>
              </a:rPr>
              <a:t>lumen</a:t>
            </a:r>
            <a:endParaRPr lang="en-GB" sz="1200" dirty="0">
              <a:latin typeface="Arial" panose="020B060402020202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57305D1E-57E7-FDD0-3E39-6FC1FD8721B6}"/>
              </a:ext>
            </a:extLst>
          </p:cNvPr>
          <p:cNvSpPr txBox="1"/>
          <p:nvPr/>
        </p:nvSpPr>
        <p:spPr>
          <a:xfrm>
            <a:off x="2154911" y="2316199"/>
            <a:ext cx="654346" cy="276999"/>
          </a:xfrm>
          <a:prstGeom prst="rect">
            <a:avLst/>
          </a:prstGeom>
          <a:noFill/>
        </p:spPr>
        <p:txBody>
          <a:bodyPr wrap="none" rtlCol="0">
            <a:spAutoFit/>
          </a:bodyPr>
          <a:lstStyle/>
          <a:p>
            <a:r>
              <a:rPr lang="fr-FR" sz="1200" dirty="0">
                <a:latin typeface="Arial" panose="020B0604020202020204" pitchFamily="34" charset="0"/>
                <a:cs typeface="Arial" panose="020B0604020202020204" pitchFamily="34" charset="0"/>
              </a:rPr>
              <a:t>stroma</a:t>
            </a:r>
            <a:endParaRPr lang="en-GB"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041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8C32E8-AEC4-2EA1-9CC2-BE2523DAC0A7}"/>
              </a:ext>
            </a:extLst>
          </p:cNvPr>
          <p:cNvSpPr>
            <a:spLocks noGrp="1"/>
          </p:cNvSpPr>
          <p:nvPr>
            <p:ph type="title"/>
          </p:nvPr>
        </p:nvSpPr>
        <p:spPr/>
        <p:txBody>
          <a:bodyPr/>
          <a:lstStyle/>
          <a:p>
            <a:r>
              <a:rPr lang="fr-FR" dirty="0"/>
              <a:t>The basis of </a:t>
            </a:r>
            <a:r>
              <a:rPr lang="fr-FR" dirty="0" err="1"/>
              <a:t>photosynthesis</a:t>
            </a:r>
            <a:endParaRPr lang="en-GB" dirty="0"/>
          </a:p>
        </p:txBody>
      </p:sp>
      <p:sp>
        <p:nvSpPr>
          <p:cNvPr id="3" name="Espace réservé du numéro de diapositive 2">
            <a:extLst>
              <a:ext uri="{FF2B5EF4-FFF2-40B4-BE49-F238E27FC236}">
                <a16:creationId xmlns:a16="http://schemas.microsoft.com/office/drawing/2014/main" id="{46F4EA5B-4400-769D-C641-1D22D6D06593}"/>
              </a:ext>
            </a:extLst>
          </p:cNvPr>
          <p:cNvSpPr>
            <a:spLocks noGrp="1"/>
          </p:cNvSpPr>
          <p:nvPr>
            <p:ph type="sldNum" sz="quarter" idx="12"/>
          </p:nvPr>
        </p:nvSpPr>
        <p:spPr/>
        <p:txBody>
          <a:bodyPr/>
          <a:lstStyle/>
          <a:p>
            <a:fld id="{E9791B11-EC80-479C-9EB2-AD35BA691394}" type="slidenum">
              <a:rPr lang="fr-FR" smtClean="0"/>
              <a:pPr/>
              <a:t>7</a:t>
            </a:fld>
            <a:endParaRPr lang="fr-FR" dirty="0"/>
          </a:p>
        </p:txBody>
      </p:sp>
      <p:sp>
        <p:nvSpPr>
          <p:cNvPr id="4" name="Text Box 9">
            <a:extLst>
              <a:ext uri="{FF2B5EF4-FFF2-40B4-BE49-F238E27FC236}">
                <a16:creationId xmlns:a16="http://schemas.microsoft.com/office/drawing/2014/main" id="{E38A0F84-1C13-45B9-06CC-2C48C4F33BC2}"/>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pic>
        <p:nvPicPr>
          <p:cNvPr id="12" name="Image 11">
            <a:extLst>
              <a:ext uri="{FF2B5EF4-FFF2-40B4-BE49-F238E27FC236}">
                <a16:creationId xmlns:a16="http://schemas.microsoft.com/office/drawing/2014/main" id="{71C49327-0ABA-D40D-401C-5CCB62B08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1957" y="335501"/>
            <a:ext cx="4312754" cy="3393642"/>
          </a:xfrm>
          <a:prstGeom prst="rect">
            <a:avLst/>
          </a:prstGeom>
        </p:spPr>
      </p:pic>
      <p:sp>
        <p:nvSpPr>
          <p:cNvPr id="5" name="Rounded Rectangle 30">
            <a:extLst>
              <a:ext uri="{FF2B5EF4-FFF2-40B4-BE49-F238E27FC236}">
                <a16:creationId xmlns:a16="http://schemas.microsoft.com/office/drawing/2014/main" id="{7D36173F-CB0E-273E-3367-37B4965C8F63}"/>
              </a:ext>
            </a:extLst>
          </p:cNvPr>
          <p:cNvSpPr/>
          <p:nvPr/>
        </p:nvSpPr>
        <p:spPr>
          <a:xfrm>
            <a:off x="5551717" y="3829925"/>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rgbClr val="A12018"/>
                </a:solidFill>
                <a:latin typeface="Times New Roman" panose="02020603050405020304" pitchFamily="18" charset="0"/>
                <a:cs typeface="Times New Roman" panose="02020603050405020304" pitchFamily="18" charset="0"/>
              </a:rPr>
              <a:t>Non-</a:t>
            </a:r>
            <a:r>
              <a:rPr lang="fr-FR" sz="1200" b="1" dirty="0" err="1">
                <a:solidFill>
                  <a:srgbClr val="A12018"/>
                </a:solidFill>
                <a:latin typeface="Times New Roman" panose="02020603050405020304" pitchFamily="18" charset="0"/>
                <a:cs typeface="Times New Roman" panose="02020603050405020304" pitchFamily="18" charset="0"/>
              </a:rPr>
              <a:t>Photochemical</a:t>
            </a:r>
            <a:r>
              <a:rPr lang="fr-FR" sz="1200" b="1" dirty="0">
                <a:solidFill>
                  <a:srgbClr val="A12018"/>
                </a:solidFill>
                <a:latin typeface="Times New Roman" panose="02020603050405020304" pitchFamily="18" charset="0"/>
                <a:cs typeface="Times New Roman" panose="02020603050405020304" pitchFamily="18" charset="0"/>
              </a:rPr>
              <a:t> </a:t>
            </a:r>
            <a:r>
              <a:rPr lang="fr-FR" sz="1200" b="1" dirty="0" err="1">
                <a:solidFill>
                  <a:srgbClr val="A12018"/>
                </a:solidFill>
                <a:latin typeface="Times New Roman" panose="02020603050405020304" pitchFamily="18" charset="0"/>
                <a:cs typeface="Times New Roman" panose="02020603050405020304" pitchFamily="18" charset="0"/>
              </a:rPr>
              <a:t>Quenching</a:t>
            </a:r>
            <a:r>
              <a:rPr lang="fr-FR" sz="1200" b="1" dirty="0">
                <a:solidFill>
                  <a:srgbClr val="A12018"/>
                </a:solidFill>
                <a:latin typeface="Times New Roman" panose="02020603050405020304" pitchFamily="18" charset="0"/>
                <a:cs typeface="Times New Roman" panose="02020603050405020304" pitchFamily="18" charset="0"/>
              </a:rPr>
              <a:t> (NPQ)</a:t>
            </a:r>
          </a:p>
        </p:txBody>
      </p:sp>
      <p:sp>
        <p:nvSpPr>
          <p:cNvPr id="6" name="Rounded Rectangle 30">
            <a:extLst>
              <a:ext uri="{FF2B5EF4-FFF2-40B4-BE49-F238E27FC236}">
                <a16:creationId xmlns:a16="http://schemas.microsoft.com/office/drawing/2014/main" id="{C86C9318-8FA9-9FAF-5662-C54688CF344D}"/>
              </a:ext>
            </a:extLst>
          </p:cNvPr>
          <p:cNvSpPr/>
          <p:nvPr/>
        </p:nvSpPr>
        <p:spPr>
          <a:xfrm>
            <a:off x="1987311" y="3829925"/>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rgbClr val="FF0000"/>
                </a:solidFill>
                <a:latin typeface="Times New Roman" panose="02020603050405020304" pitchFamily="18" charset="0"/>
                <a:cs typeface="Times New Roman" panose="02020603050405020304" pitchFamily="18" charset="0"/>
              </a:rPr>
              <a:t>Fluorescence</a:t>
            </a:r>
          </a:p>
        </p:txBody>
      </p:sp>
      <p:sp>
        <p:nvSpPr>
          <p:cNvPr id="8" name="Rounded Rectangle 30">
            <a:extLst>
              <a:ext uri="{FF2B5EF4-FFF2-40B4-BE49-F238E27FC236}">
                <a16:creationId xmlns:a16="http://schemas.microsoft.com/office/drawing/2014/main" id="{917B2CB0-BF4C-C3A7-F89E-AB8FCA73C36A}"/>
              </a:ext>
            </a:extLst>
          </p:cNvPr>
          <p:cNvSpPr/>
          <p:nvPr/>
        </p:nvSpPr>
        <p:spPr>
          <a:xfrm>
            <a:off x="3598161" y="3022030"/>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accent2"/>
                </a:solidFill>
                <a:latin typeface="Times New Roman" panose="02020603050405020304" pitchFamily="18" charset="0"/>
                <a:cs typeface="Times New Roman" panose="02020603050405020304" pitchFamily="18" charset="0"/>
              </a:rPr>
              <a:t>Photochemical</a:t>
            </a:r>
            <a:r>
              <a:rPr lang="fr-FR" sz="1200" b="1" dirty="0">
                <a:solidFill>
                  <a:schemeClr val="accent2"/>
                </a:solidFill>
                <a:latin typeface="Times New Roman" panose="02020603050405020304" pitchFamily="18" charset="0"/>
                <a:cs typeface="Times New Roman" panose="02020603050405020304" pitchFamily="18" charset="0"/>
              </a:rPr>
              <a:t> </a:t>
            </a:r>
            <a:r>
              <a:rPr lang="fr-FR" sz="1200" b="1" dirty="0" err="1">
                <a:solidFill>
                  <a:schemeClr val="accent2"/>
                </a:solidFill>
                <a:latin typeface="Times New Roman" panose="02020603050405020304" pitchFamily="18" charset="0"/>
                <a:cs typeface="Times New Roman" panose="02020603050405020304" pitchFamily="18" charset="0"/>
              </a:rPr>
              <a:t>Quenching</a:t>
            </a:r>
            <a:endParaRPr lang="fr-FR" sz="1200" b="1"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4BB15C95-D1F2-C950-C543-C7215194A5B3}"/>
                  </a:ext>
                </a:extLst>
              </p:cNvPr>
              <p:cNvSpPr txBox="1"/>
              <p:nvPr/>
            </p:nvSpPr>
            <p:spPr>
              <a:xfrm>
                <a:off x="2492417" y="4353358"/>
                <a:ext cx="4901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Sub>
                    </m:oMath>
                  </m:oMathPara>
                </a14:m>
                <a:endParaRPr lang="en-GB" dirty="0">
                  <a:solidFill>
                    <a:srgbClr val="FF0000"/>
                  </a:solidFill>
                </a:endParaRPr>
              </a:p>
            </p:txBody>
          </p:sp>
        </mc:Choice>
        <mc:Fallback xmlns="">
          <p:sp>
            <p:nvSpPr>
              <p:cNvPr id="9" name="ZoneTexte 8">
                <a:extLst>
                  <a:ext uri="{FF2B5EF4-FFF2-40B4-BE49-F238E27FC236}">
                    <a16:creationId xmlns:a16="http://schemas.microsoft.com/office/drawing/2014/main" id="{4BB15C95-D1F2-C950-C543-C7215194A5B3}"/>
                  </a:ext>
                </a:extLst>
              </p:cNvPr>
              <p:cNvSpPr txBox="1">
                <a:spLocks noRot="1" noChangeAspect="1" noMove="1" noResize="1" noEditPoints="1" noAdjustHandles="1" noChangeArrowheads="1" noChangeShapeType="1" noTextEdit="1"/>
              </p:cNvSpPr>
              <p:nvPr/>
            </p:nvSpPr>
            <p:spPr>
              <a:xfrm>
                <a:off x="2492417" y="4353358"/>
                <a:ext cx="49013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4BC41CD1-675B-59CD-97E0-695ECF4D946C}"/>
                  </a:ext>
                </a:extLst>
              </p:cNvPr>
              <p:cNvSpPr txBox="1"/>
              <p:nvPr/>
            </p:nvSpPr>
            <p:spPr>
              <a:xfrm>
                <a:off x="3866832" y="4353358"/>
                <a:ext cx="92339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𝑘</m:t>
                          </m:r>
                        </m:e>
                        <m:sub>
                          <m:r>
                            <a:rPr lang="fr-FR" b="0" i="1" smtClean="0">
                              <a:solidFill>
                                <a:schemeClr val="accent2"/>
                              </a:solidFill>
                              <a:latin typeface="Cambria Math" panose="02040503050406030204" pitchFamily="18" charset="0"/>
                            </a:rPr>
                            <m:t>𝑃</m:t>
                          </m:r>
                        </m:sub>
                      </m:sSub>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m:oMathPara>
                </a14:m>
                <a:endParaRPr lang="en-GB" dirty="0">
                  <a:solidFill>
                    <a:schemeClr val="accent2"/>
                  </a:solidFill>
                </a:endParaRPr>
              </a:p>
            </p:txBody>
          </p:sp>
        </mc:Choice>
        <mc:Fallback xmlns="">
          <p:sp>
            <p:nvSpPr>
              <p:cNvPr id="10" name="ZoneTexte 9">
                <a:extLst>
                  <a:ext uri="{FF2B5EF4-FFF2-40B4-BE49-F238E27FC236}">
                    <a16:creationId xmlns:a16="http://schemas.microsoft.com/office/drawing/2014/main" id="{4BC41CD1-675B-59CD-97E0-695ECF4D946C}"/>
                  </a:ext>
                </a:extLst>
              </p:cNvPr>
              <p:cNvSpPr txBox="1">
                <a:spLocks noRot="1" noChangeAspect="1" noMove="1" noResize="1" noEditPoints="1" noAdjustHandles="1" noChangeArrowheads="1" noChangeShapeType="1" noTextEdit="1"/>
              </p:cNvSpPr>
              <p:nvPr/>
            </p:nvSpPr>
            <p:spPr>
              <a:xfrm>
                <a:off x="3866832" y="4353358"/>
                <a:ext cx="923394" cy="369332"/>
              </a:xfrm>
              <a:prstGeom prst="rect">
                <a:avLst/>
              </a:prstGeom>
              <a:blipFill>
                <a:blip r:embed="rId5"/>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40D09CC3-6E98-20F8-7811-2E7FFD985DA4}"/>
                  </a:ext>
                </a:extLst>
              </p:cNvPr>
              <p:cNvSpPr txBox="1"/>
              <p:nvPr/>
            </p:nvSpPr>
            <p:spPr>
              <a:xfrm>
                <a:off x="5934033" y="4343580"/>
                <a:ext cx="735714" cy="3888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rgbClr val="A12018"/>
                              </a:solidFill>
                              <a:latin typeface="Cambria Math" panose="02040503050406030204" pitchFamily="18" charset="0"/>
                            </a:rPr>
                          </m:ctrlPr>
                        </m:sSubPr>
                        <m:e>
                          <m:r>
                            <a:rPr lang="fr-FR" b="0" i="1" smtClean="0">
                              <a:solidFill>
                                <a:srgbClr val="A12018"/>
                              </a:solidFill>
                              <a:latin typeface="Cambria Math" panose="02040503050406030204" pitchFamily="18" charset="0"/>
                            </a:rPr>
                            <m:t>𝑘</m:t>
                          </m:r>
                        </m:e>
                        <m:sub>
                          <m:r>
                            <a:rPr lang="fr-FR" b="0" i="1" smtClean="0">
                              <a:solidFill>
                                <a:srgbClr val="A12018"/>
                              </a:solidFill>
                              <a:latin typeface="Cambria Math" panose="02040503050406030204" pitchFamily="18" charset="0"/>
                            </a:rPr>
                            <m:t>𝑁𝑃𝑄</m:t>
                          </m:r>
                        </m:sub>
                      </m:sSub>
                    </m:oMath>
                  </m:oMathPara>
                </a14:m>
                <a:endParaRPr lang="en-GB" dirty="0">
                  <a:solidFill>
                    <a:srgbClr val="A12018"/>
                  </a:solidFill>
                </a:endParaRPr>
              </a:p>
            </p:txBody>
          </p:sp>
        </mc:Choice>
        <mc:Fallback xmlns="">
          <p:sp>
            <p:nvSpPr>
              <p:cNvPr id="11" name="ZoneTexte 10">
                <a:extLst>
                  <a:ext uri="{FF2B5EF4-FFF2-40B4-BE49-F238E27FC236}">
                    <a16:creationId xmlns:a16="http://schemas.microsoft.com/office/drawing/2014/main" id="{40D09CC3-6E98-20F8-7811-2E7FFD985DA4}"/>
                  </a:ext>
                </a:extLst>
              </p:cNvPr>
              <p:cNvSpPr txBox="1">
                <a:spLocks noRot="1" noChangeAspect="1" noMove="1" noResize="1" noEditPoints="1" noAdjustHandles="1" noChangeArrowheads="1" noChangeShapeType="1" noTextEdit="1"/>
              </p:cNvSpPr>
              <p:nvPr/>
            </p:nvSpPr>
            <p:spPr>
              <a:xfrm>
                <a:off x="5934033" y="4343580"/>
                <a:ext cx="735714" cy="388889"/>
              </a:xfrm>
              <a:prstGeom prst="rect">
                <a:avLst/>
              </a:prstGeom>
              <a:blipFill>
                <a:blip r:embed="rId6"/>
                <a:stretch>
                  <a:fillRect b="-7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D7D73630-B7BB-9900-8339-0B4051E25B3B}"/>
                  </a:ext>
                </a:extLst>
              </p:cNvPr>
              <p:cNvSpPr txBox="1"/>
              <p:nvPr/>
            </p:nvSpPr>
            <p:spPr>
              <a:xfrm>
                <a:off x="3866832" y="4732468"/>
                <a:ext cx="9246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chemeClr val="accent2"/>
                              </a:solidFill>
                              <a:latin typeface="Cambria Math" panose="02040503050406030204" pitchFamily="18" charset="0"/>
                            </a:rPr>
                          </m:ctrlPr>
                        </m:sSubSupPr>
                        <m:e>
                          <m:r>
                            <a:rPr lang="fr-FR" b="0" i="1" smtClean="0">
                              <a:solidFill>
                                <a:schemeClr val="accent2"/>
                              </a:solidFill>
                              <a:latin typeface="Cambria Math" panose="02040503050406030204" pitchFamily="18" charset="0"/>
                            </a:rPr>
                            <m:t>𝑘</m:t>
                          </m:r>
                        </m:e>
                        <m:sub>
                          <m:r>
                            <a:rPr lang="fr-FR" b="0" i="1" smtClean="0">
                              <a:solidFill>
                                <a:schemeClr val="accent2"/>
                              </a:solidFill>
                              <a:latin typeface="Cambria Math" panose="02040503050406030204" pitchFamily="18" charset="0"/>
                            </a:rPr>
                            <m:t>𝑃</m:t>
                          </m:r>
                        </m:sub>
                        <m:sup>
                          <m:r>
                            <a:rPr lang="fr-FR" b="0" i="1" smtClean="0">
                              <a:solidFill>
                                <a:schemeClr val="accent2"/>
                              </a:solidFill>
                              <a:latin typeface="Cambria Math" panose="02040503050406030204" pitchFamily="18" charset="0"/>
                            </a:rPr>
                            <m:t>′</m:t>
                          </m:r>
                        </m:sup>
                      </m:sSubSup>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m:oMathPara>
                </a14:m>
                <a:endParaRPr lang="en-GB" dirty="0">
                  <a:solidFill>
                    <a:schemeClr val="accent2"/>
                  </a:solidFill>
                </a:endParaRPr>
              </a:p>
            </p:txBody>
          </p:sp>
        </mc:Choice>
        <mc:Fallback xmlns="">
          <p:sp>
            <p:nvSpPr>
              <p:cNvPr id="14" name="ZoneTexte 13">
                <a:extLst>
                  <a:ext uri="{FF2B5EF4-FFF2-40B4-BE49-F238E27FC236}">
                    <a16:creationId xmlns:a16="http://schemas.microsoft.com/office/drawing/2014/main" id="{D7D73630-B7BB-9900-8339-0B4051E25B3B}"/>
                  </a:ext>
                </a:extLst>
              </p:cNvPr>
              <p:cNvSpPr txBox="1">
                <a:spLocks noRot="1" noChangeAspect="1" noMove="1" noResize="1" noEditPoints="1" noAdjustHandles="1" noChangeArrowheads="1" noChangeShapeType="1" noTextEdit="1"/>
              </p:cNvSpPr>
              <p:nvPr/>
            </p:nvSpPr>
            <p:spPr>
              <a:xfrm>
                <a:off x="3866832" y="4732468"/>
                <a:ext cx="924676" cy="369332"/>
              </a:xfrm>
              <a:prstGeom prst="rect">
                <a:avLst/>
              </a:prstGeom>
              <a:blipFill>
                <a:blip r:embed="rId7"/>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FC9DF32C-DE43-5557-5409-BCE9504071F9}"/>
                  </a:ext>
                </a:extLst>
              </p:cNvPr>
              <p:cNvSpPr txBox="1"/>
              <p:nvPr/>
            </p:nvSpPr>
            <p:spPr>
              <a:xfrm>
                <a:off x="5934033" y="4722690"/>
                <a:ext cx="735714" cy="3941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rgbClr val="A12018"/>
                              </a:solidFill>
                              <a:latin typeface="Cambria Math" panose="02040503050406030204" pitchFamily="18" charset="0"/>
                            </a:rPr>
                          </m:ctrlPr>
                        </m:sSubSupPr>
                        <m:e>
                          <m:r>
                            <a:rPr lang="fr-FR" b="0" i="1" smtClean="0">
                              <a:solidFill>
                                <a:srgbClr val="A12018"/>
                              </a:solidFill>
                              <a:latin typeface="Cambria Math" panose="02040503050406030204" pitchFamily="18" charset="0"/>
                            </a:rPr>
                            <m:t>𝑘</m:t>
                          </m:r>
                        </m:e>
                        <m:sub>
                          <m:r>
                            <a:rPr lang="fr-FR" b="0" i="1" smtClean="0">
                              <a:solidFill>
                                <a:srgbClr val="A12018"/>
                              </a:solidFill>
                              <a:latin typeface="Cambria Math" panose="02040503050406030204" pitchFamily="18" charset="0"/>
                            </a:rPr>
                            <m:t>𝑁𝑃𝑄</m:t>
                          </m:r>
                        </m:sub>
                        <m:sup>
                          <m:r>
                            <a:rPr lang="fr-FR" b="0" i="1" smtClean="0">
                              <a:solidFill>
                                <a:srgbClr val="A12018"/>
                              </a:solidFill>
                              <a:latin typeface="Cambria Math" panose="02040503050406030204" pitchFamily="18" charset="0"/>
                            </a:rPr>
                            <m:t>′</m:t>
                          </m:r>
                        </m:sup>
                      </m:sSubSup>
                    </m:oMath>
                  </m:oMathPara>
                </a14:m>
                <a:endParaRPr lang="en-GB" dirty="0">
                  <a:solidFill>
                    <a:srgbClr val="A12018"/>
                  </a:solidFill>
                </a:endParaRPr>
              </a:p>
            </p:txBody>
          </p:sp>
        </mc:Choice>
        <mc:Fallback xmlns="">
          <p:sp>
            <p:nvSpPr>
              <p:cNvPr id="15" name="ZoneTexte 14">
                <a:extLst>
                  <a:ext uri="{FF2B5EF4-FFF2-40B4-BE49-F238E27FC236}">
                    <a16:creationId xmlns:a16="http://schemas.microsoft.com/office/drawing/2014/main" id="{FC9DF32C-DE43-5557-5409-BCE9504071F9}"/>
                  </a:ext>
                </a:extLst>
              </p:cNvPr>
              <p:cNvSpPr txBox="1">
                <a:spLocks noRot="1" noChangeAspect="1" noMove="1" noResize="1" noEditPoints="1" noAdjustHandles="1" noChangeArrowheads="1" noChangeShapeType="1" noTextEdit="1"/>
              </p:cNvSpPr>
              <p:nvPr/>
            </p:nvSpPr>
            <p:spPr>
              <a:xfrm>
                <a:off x="5934033" y="4722690"/>
                <a:ext cx="735714" cy="394147"/>
              </a:xfrm>
              <a:prstGeom prst="rect">
                <a:avLst/>
              </a:prstGeom>
              <a:blipFill>
                <a:blip r:embed="rId8"/>
                <a:stretch>
                  <a:fillRect b="-78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BB07065A-A6CB-2C5F-DF7D-021750BAB053}"/>
                  </a:ext>
                </a:extLst>
              </p:cNvPr>
              <p:cNvSpPr txBox="1"/>
              <p:nvPr/>
            </p:nvSpPr>
            <p:spPr>
              <a:xfrm>
                <a:off x="2217854" y="4722690"/>
                <a:ext cx="10392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up>
                          <m:r>
                            <a:rPr lang="fr-FR" b="0" i="1" smtClean="0">
                              <a:solidFill>
                                <a:srgbClr val="FF0000"/>
                              </a:solidFill>
                              <a:latin typeface="Cambria Math" panose="02040503050406030204" pitchFamily="18" charset="0"/>
                            </a:rPr>
                            <m:t>′</m:t>
                          </m:r>
                        </m:sup>
                      </m:sSubSup>
                      <m:r>
                        <a:rPr lang="fr-FR" b="0" i="1" smtClean="0">
                          <a:solidFill>
                            <a:srgbClr val="FF0000"/>
                          </a:solidFill>
                          <a:latin typeface="Cambria Math" panose="02040503050406030204" pitchFamily="18" charset="0"/>
                        </a:rPr>
                        <m:t>=</m:t>
                      </m:r>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Sub>
                    </m:oMath>
                  </m:oMathPara>
                </a14:m>
                <a:endParaRPr lang="en-GB" dirty="0">
                  <a:solidFill>
                    <a:srgbClr val="FF0000"/>
                  </a:solidFill>
                </a:endParaRPr>
              </a:p>
            </p:txBody>
          </p:sp>
        </mc:Choice>
        <mc:Fallback xmlns="">
          <p:sp>
            <p:nvSpPr>
              <p:cNvPr id="16" name="ZoneTexte 15">
                <a:extLst>
                  <a:ext uri="{FF2B5EF4-FFF2-40B4-BE49-F238E27FC236}">
                    <a16:creationId xmlns:a16="http://schemas.microsoft.com/office/drawing/2014/main" id="{BB07065A-A6CB-2C5F-DF7D-021750BAB053}"/>
                  </a:ext>
                </a:extLst>
              </p:cNvPr>
              <p:cNvSpPr txBox="1">
                <a:spLocks noRot="1" noChangeAspect="1" noMove="1" noResize="1" noEditPoints="1" noAdjustHandles="1" noChangeArrowheads="1" noChangeShapeType="1" noTextEdit="1"/>
              </p:cNvSpPr>
              <p:nvPr/>
            </p:nvSpPr>
            <p:spPr>
              <a:xfrm>
                <a:off x="2217854" y="4722690"/>
                <a:ext cx="1039259" cy="369332"/>
              </a:xfrm>
              <a:prstGeom prst="rect">
                <a:avLst/>
              </a:prstGeom>
              <a:blipFill>
                <a:blip r:embed="rId9"/>
                <a:stretch>
                  <a:fillRect b="-3333"/>
                </a:stretch>
              </a:blipFill>
            </p:spPr>
            <p:txBody>
              <a:bodyPr/>
              <a:lstStyle/>
              <a:p>
                <a:r>
                  <a:rPr lang="en-GB">
                    <a:noFill/>
                  </a:rPr>
                  <a:t> </a:t>
                </a:r>
              </a:p>
            </p:txBody>
          </p:sp>
        </mc:Fallback>
      </mc:AlternateContent>
      <p:sp>
        <p:nvSpPr>
          <p:cNvPr id="17" name="ZoneTexte 1">
            <a:extLst>
              <a:ext uri="{FF2B5EF4-FFF2-40B4-BE49-F238E27FC236}">
                <a16:creationId xmlns:a16="http://schemas.microsoft.com/office/drawing/2014/main" id="{CB675EBC-B012-203B-AD78-CD05379E804B}"/>
              </a:ext>
            </a:extLst>
          </p:cNvPr>
          <p:cNvSpPr txBox="1"/>
          <p:nvPr/>
        </p:nvSpPr>
        <p:spPr>
          <a:xfrm>
            <a:off x="7221858" y="4424285"/>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sp>
        <p:nvSpPr>
          <p:cNvPr id="18" name="ZoneTexte 1">
            <a:extLst>
              <a:ext uri="{FF2B5EF4-FFF2-40B4-BE49-F238E27FC236}">
                <a16:creationId xmlns:a16="http://schemas.microsoft.com/office/drawing/2014/main" id="{A0BD5513-DFAF-6EE4-4555-FE359A5C0C7A}"/>
              </a:ext>
            </a:extLst>
          </p:cNvPr>
          <p:cNvSpPr txBox="1"/>
          <p:nvPr/>
        </p:nvSpPr>
        <p:spPr>
          <a:xfrm>
            <a:off x="7221858" y="4778634"/>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DBE79F4B-4BCB-584F-CC70-5F3A5EBF6841}"/>
                  </a:ext>
                </a:extLst>
              </p:cNvPr>
              <p:cNvSpPr txBox="1"/>
              <p:nvPr/>
            </p:nvSpPr>
            <p:spPr>
              <a:xfrm>
                <a:off x="7152373" y="442216"/>
                <a:ext cx="1991627" cy="646331"/>
              </a:xfrm>
              <a:prstGeom prst="rect">
                <a:avLst/>
              </a:prstGeom>
              <a:noFill/>
            </p:spPr>
            <p:txBody>
              <a:bodyPr wrap="square" rtlCol="0">
                <a:spAutoFit/>
              </a:bodyPr>
              <a:lstStyle/>
              <a:p>
                <a14:m>
                  <m:oMath xmlns:m="http://schemas.openxmlformats.org/officeDocument/2006/math">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a14:m>
                <a:r>
                  <a:rPr lang="en-GB" dirty="0">
                    <a:solidFill>
                      <a:schemeClr val="accent2"/>
                    </a:solidFill>
                  </a:rPr>
                  <a:t> fraction of oxidised quinone A</a:t>
                </a:r>
              </a:p>
            </p:txBody>
          </p:sp>
        </mc:Choice>
        <mc:Fallback xmlns="">
          <p:sp>
            <p:nvSpPr>
              <p:cNvPr id="19" name="ZoneTexte 18">
                <a:extLst>
                  <a:ext uri="{FF2B5EF4-FFF2-40B4-BE49-F238E27FC236}">
                    <a16:creationId xmlns:a16="http://schemas.microsoft.com/office/drawing/2014/main" id="{DBE79F4B-4BCB-584F-CC70-5F3A5EBF6841}"/>
                  </a:ext>
                </a:extLst>
              </p:cNvPr>
              <p:cNvSpPr txBox="1">
                <a:spLocks noRot="1" noChangeAspect="1" noMove="1" noResize="1" noEditPoints="1" noAdjustHandles="1" noChangeArrowheads="1" noChangeShapeType="1" noTextEdit="1"/>
              </p:cNvSpPr>
              <p:nvPr/>
            </p:nvSpPr>
            <p:spPr>
              <a:xfrm>
                <a:off x="7152373" y="442216"/>
                <a:ext cx="1991627" cy="646331"/>
              </a:xfrm>
              <a:prstGeom prst="rect">
                <a:avLst/>
              </a:prstGeom>
              <a:blipFill>
                <a:blip r:embed="rId10"/>
                <a:stretch>
                  <a:fillRect l="-2446" t="-5660" r="-917" b="-14151"/>
                </a:stretch>
              </a:blipFill>
            </p:spPr>
            <p:txBody>
              <a:bodyPr/>
              <a:lstStyle/>
              <a:p>
                <a:r>
                  <a:rPr lang="en-GB">
                    <a:noFill/>
                  </a:rPr>
                  <a:t> </a:t>
                </a:r>
              </a:p>
            </p:txBody>
          </p:sp>
        </mc:Fallback>
      </mc:AlternateContent>
    </p:spTree>
    <p:extLst>
      <p:ext uri="{BB962C8B-B14F-4D97-AF65-F5344CB8AC3E}">
        <p14:creationId xmlns:p14="http://schemas.microsoft.com/office/powerpoint/2010/main" val="269874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132CC7-AA8B-66F3-F733-AB9CA33DB8D7}"/>
              </a:ext>
            </a:extLst>
          </p:cNvPr>
          <p:cNvSpPr>
            <a:spLocks noGrp="1"/>
          </p:cNvSpPr>
          <p:nvPr>
            <p:ph type="title"/>
          </p:nvPr>
        </p:nvSpPr>
        <p:spPr/>
        <p:txBody>
          <a:bodyPr/>
          <a:lstStyle/>
          <a:p>
            <a:r>
              <a:rPr lang="fr-FR" dirty="0"/>
              <a:t>Fluorescence </a:t>
            </a:r>
            <a:r>
              <a:rPr lang="fr-FR" dirty="0" err="1"/>
              <a:t>from</a:t>
            </a:r>
            <a:r>
              <a:rPr lang="fr-FR" dirty="0"/>
              <a:t> </a:t>
            </a:r>
            <a:r>
              <a:rPr lang="fr-FR" dirty="0" err="1"/>
              <a:t>dark-adapted</a:t>
            </a:r>
            <a:r>
              <a:rPr lang="fr-FR" dirty="0"/>
              <a:t> </a:t>
            </a:r>
            <a:r>
              <a:rPr lang="fr-FR" dirty="0" err="1"/>
              <a:t>cells</a:t>
            </a:r>
            <a:endParaRPr lang="en-GB" dirty="0"/>
          </a:p>
        </p:txBody>
      </p:sp>
      <p:sp>
        <p:nvSpPr>
          <p:cNvPr id="3" name="Espace réservé du numéro de diapositive 2">
            <a:extLst>
              <a:ext uri="{FF2B5EF4-FFF2-40B4-BE49-F238E27FC236}">
                <a16:creationId xmlns:a16="http://schemas.microsoft.com/office/drawing/2014/main" id="{6DDE7D9D-D5F6-AB34-9622-82116E3557A7}"/>
              </a:ext>
            </a:extLst>
          </p:cNvPr>
          <p:cNvSpPr>
            <a:spLocks noGrp="1"/>
          </p:cNvSpPr>
          <p:nvPr>
            <p:ph type="sldNum" sz="quarter" idx="12"/>
          </p:nvPr>
        </p:nvSpPr>
        <p:spPr/>
        <p:txBody>
          <a:bodyPr/>
          <a:lstStyle/>
          <a:p>
            <a:fld id="{E9791B11-EC80-479C-9EB2-AD35BA691394}" type="slidenum">
              <a:rPr lang="fr-FR" smtClean="0"/>
              <a:pPr/>
              <a:t>8</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004A03F-1869-29F0-9E0D-F482141B7D81}"/>
                  </a:ext>
                </a:extLst>
              </p:cNvPr>
              <p:cNvSpPr txBox="1"/>
              <p:nvPr/>
            </p:nvSpPr>
            <p:spPr>
              <a:xfrm>
                <a:off x="2260000" y="954998"/>
                <a:ext cx="5546070" cy="550215"/>
              </a:xfrm>
              <a:prstGeom prst="rect">
                <a:avLst/>
              </a:prstGeom>
              <a:noFill/>
            </p:spPr>
            <p:txBody>
              <a:bodyPr wrap="none" rtlCol="0">
                <a:spAutoFit/>
              </a:bodyPr>
              <a:lstStyle/>
              <a:p>
                <a:r>
                  <a:rPr lang="en-US" b="0" dirty="0"/>
                  <a:t>Fluorescence signal proportional to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Φ</m:t>
                        </m:r>
                      </m:e>
                      <m:sub>
                        <m:r>
                          <a:rPr lang="en-US" b="0" i="1" smtClean="0">
                            <a:latin typeface="Cambria Math" panose="02040503050406030204" pitchFamily="18" charset="0"/>
                          </a:rPr>
                          <m:t>𝐹</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𝑃</m:t>
                            </m:r>
                          </m:sub>
                        </m:s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Sub>
                      </m:den>
                    </m:f>
                  </m:oMath>
                </a14:m>
                <a:endParaRPr lang="en-US" dirty="0"/>
              </a:p>
            </p:txBody>
          </p:sp>
        </mc:Choice>
        <mc:Fallback xmlns="">
          <p:sp>
            <p:nvSpPr>
              <p:cNvPr id="5" name="ZoneTexte 4">
                <a:extLst>
                  <a:ext uri="{FF2B5EF4-FFF2-40B4-BE49-F238E27FC236}">
                    <a16:creationId xmlns:a16="http://schemas.microsoft.com/office/drawing/2014/main" id="{3004A03F-1869-29F0-9E0D-F482141B7D81}"/>
                  </a:ext>
                </a:extLst>
              </p:cNvPr>
              <p:cNvSpPr txBox="1">
                <a:spLocks noRot="1" noChangeAspect="1" noMove="1" noResize="1" noEditPoints="1" noAdjustHandles="1" noChangeArrowheads="1" noChangeShapeType="1" noTextEdit="1"/>
              </p:cNvSpPr>
              <p:nvPr/>
            </p:nvSpPr>
            <p:spPr>
              <a:xfrm>
                <a:off x="2260000" y="954998"/>
                <a:ext cx="5546070" cy="550215"/>
              </a:xfrm>
              <a:prstGeom prst="rect">
                <a:avLst/>
              </a:prstGeom>
              <a:blipFill>
                <a:blip r:embed="rId2"/>
                <a:stretch>
                  <a:fillRect l="-989" b="-4444"/>
                </a:stretch>
              </a:blipFill>
            </p:spPr>
            <p:txBody>
              <a:bodyPr/>
              <a:lstStyle/>
              <a:p>
                <a:r>
                  <a:rPr lang="en-GB">
                    <a:noFill/>
                  </a:rPr>
                  <a:t> </a:t>
                </a:r>
              </a:p>
            </p:txBody>
          </p:sp>
        </mc:Fallback>
      </mc:AlternateContent>
      <p:grpSp>
        <p:nvGrpSpPr>
          <p:cNvPr id="14" name="Groupe 13">
            <a:extLst>
              <a:ext uri="{FF2B5EF4-FFF2-40B4-BE49-F238E27FC236}">
                <a16:creationId xmlns:a16="http://schemas.microsoft.com/office/drawing/2014/main" id="{7E6B5C05-21F8-90C1-47DA-5AB1CFC655E1}"/>
              </a:ext>
            </a:extLst>
          </p:cNvPr>
          <p:cNvGrpSpPr/>
          <p:nvPr/>
        </p:nvGrpSpPr>
        <p:grpSpPr>
          <a:xfrm>
            <a:off x="64154" y="422768"/>
            <a:ext cx="1644660" cy="1245429"/>
            <a:chOff x="64154" y="422768"/>
            <a:chExt cx="1644660" cy="1245429"/>
          </a:xfrm>
        </p:grpSpPr>
        <p:pic>
          <p:nvPicPr>
            <p:cNvPr id="13" name="Image 12">
              <a:extLst>
                <a:ext uri="{FF2B5EF4-FFF2-40B4-BE49-F238E27FC236}">
                  <a16:creationId xmlns:a16="http://schemas.microsoft.com/office/drawing/2014/main" id="{D9BAF9C5-63F8-10C6-FF19-98FDA1E2A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7" name="Rounded Rectangle 30">
              <a:extLst>
                <a:ext uri="{FF2B5EF4-FFF2-40B4-BE49-F238E27FC236}">
                  <a16:creationId xmlns:a16="http://schemas.microsoft.com/office/drawing/2014/main" id="{1064BF9B-4E9D-C89B-5C7C-519C4112301D}"/>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8" name="Rounded Rectangle 30">
              <a:extLst>
                <a:ext uri="{FF2B5EF4-FFF2-40B4-BE49-F238E27FC236}">
                  <a16:creationId xmlns:a16="http://schemas.microsoft.com/office/drawing/2014/main" id="{DB7C33A0-95CC-A986-E157-601280B5A02C}"/>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9" name="Rounded Rectangle 30">
              <a:extLst>
                <a:ext uri="{FF2B5EF4-FFF2-40B4-BE49-F238E27FC236}">
                  <a16:creationId xmlns:a16="http://schemas.microsoft.com/office/drawing/2014/main" id="{52595625-BE54-0D03-A86C-DCE16E58DC4A}"/>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BBAE22E-D4C3-9A67-6A12-D06F7A36FBF0}"/>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0" name="ZoneTexte 9">
                  <a:extLst>
                    <a:ext uri="{FF2B5EF4-FFF2-40B4-BE49-F238E27FC236}">
                      <a16:creationId xmlns:a16="http://schemas.microsoft.com/office/drawing/2014/main" id="{FBBAE22E-D4C3-9A67-6A12-D06F7A36FBF0}"/>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87035A-63DC-C860-7069-1A38E9127948}"/>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1" name="ZoneTexte 10">
                  <a:extLst>
                    <a:ext uri="{FF2B5EF4-FFF2-40B4-BE49-F238E27FC236}">
                      <a16:creationId xmlns:a16="http://schemas.microsoft.com/office/drawing/2014/main" id="{1887035A-63DC-C860-7069-1A38E9127948}"/>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B8FC63B2-7144-3776-A4DF-6D58220866CE}"/>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2" name="ZoneTexte 11">
                  <a:extLst>
                    <a:ext uri="{FF2B5EF4-FFF2-40B4-BE49-F238E27FC236}">
                      <a16:creationId xmlns:a16="http://schemas.microsoft.com/office/drawing/2014/main" id="{B8FC63B2-7144-3776-A4DF-6D58220866CE}"/>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3B2A94CF-B92E-DC62-70EA-7E8B404F1A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7343" y="1860067"/>
            <a:ext cx="8009314" cy="1562235"/>
          </a:xfrm>
          <a:prstGeom prst="rect">
            <a:avLst/>
          </a:prstGeom>
        </p:spPr>
      </p:pic>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14DAC877-223C-FBD3-83D4-DFE62A49BB5B}"/>
                  </a:ext>
                </a:extLst>
              </p:cNvPr>
              <p:cNvSpPr txBox="1"/>
              <p:nvPr/>
            </p:nvSpPr>
            <p:spPr>
              <a:xfrm>
                <a:off x="2306796" y="3860818"/>
                <a:ext cx="4530407" cy="369332"/>
              </a:xfrm>
              <a:prstGeom prst="rect">
                <a:avLst/>
              </a:prstGeom>
              <a:noFill/>
            </p:spPr>
            <p:txBody>
              <a:bodyPr wrap="none" rtlCol="0">
                <a:spAutoFit/>
              </a:bodyPr>
              <a:lstStyle/>
              <a:p>
                <a:r>
                  <a:rPr lang="en-US" b="0" dirty="0"/>
                  <a:t>M</a:t>
                </a:r>
                <a14:m>
                  <m:oMath xmlns:m="http://schemas.openxmlformats.org/officeDocument/2006/math">
                    <m:r>
                      <m:rPr>
                        <m:sty m:val="p"/>
                      </m:rPr>
                      <a:rPr lang="fr-FR" dirty="0">
                        <a:latin typeface="Cambria Math" panose="02040503050406030204" pitchFamily="18" charset="0"/>
                      </a:rPr>
                      <m:t>a</m:t>
                    </m:r>
                    <m:r>
                      <m:rPr>
                        <m:sty m:val="p"/>
                      </m:rPr>
                      <a:rPr lang="fr-FR" b="0" i="0" dirty="0" smtClean="0">
                        <a:latin typeface="Cambria Math" panose="02040503050406030204" pitchFamily="18" charset="0"/>
                      </a:rPr>
                      <m:t>ximum</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quantum</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yield</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of</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photosynthesis</m:t>
                    </m:r>
                  </m:oMath>
                </a14:m>
                <a:endParaRPr lang="en-US" dirty="0"/>
              </a:p>
            </p:txBody>
          </p:sp>
        </mc:Choice>
        <mc:Fallback xmlns="">
          <p:sp>
            <p:nvSpPr>
              <p:cNvPr id="19" name="ZoneTexte 18">
                <a:extLst>
                  <a:ext uri="{FF2B5EF4-FFF2-40B4-BE49-F238E27FC236}">
                    <a16:creationId xmlns:a16="http://schemas.microsoft.com/office/drawing/2014/main" id="{14DAC877-223C-FBD3-83D4-DFE62A49BB5B}"/>
                  </a:ext>
                </a:extLst>
              </p:cNvPr>
              <p:cNvSpPr txBox="1">
                <a:spLocks noRot="1" noChangeAspect="1" noMove="1" noResize="1" noEditPoints="1" noAdjustHandles="1" noChangeArrowheads="1" noChangeShapeType="1" noTextEdit="1"/>
              </p:cNvSpPr>
              <p:nvPr/>
            </p:nvSpPr>
            <p:spPr>
              <a:xfrm>
                <a:off x="2306796" y="3860818"/>
                <a:ext cx="4530407" cy="369332"/>
              </a:xfrm>
              <a:prstGeom prst="rect">
                <a:avLst/>
              </a:prstGeom>
              <a:blipFill>
                <a:blip r:embed="rId8"/>
                <a:stretch>
                  <a:fillRect l="-1075"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9370011C-8A21-F9FB-5506-0651B5990D91}"/>
                  </a:ext>
                </a:extLst>
              </p:cNvPr>
              <p:cNvSpPr txBox="1"/>
              <p:nvPr/>
            </p:nvSpPr>
            <p:spPr>
              <a:xfrm>
                <a:off x="2944053" y="4335399"/>
                <a:ext cx="3299686" cy="6936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
                            <m:sSubPr>
                              <m:ctrlPr>
                                <a:rPr lang="fr-FR" b="0" i="1" dirty="0" smtClean="0">
                                  <a:latin typeface="Cambria Math" panose="02040503050406030204" pitchFamily="18" charset="0"/>
                                </a:rPr>
                              </m:ctrlPr>
                            </m:sSubPr>
                            <m:e>
                              <m:r>
                                <a:rPr lang="fr-FR" b="0" i="1" dirty="0" smtClean="0">
                                  <a:latin typeface="Cambria Math" panose="02040503050406030204" pitchFamily="18" charset="0"/>
                                </a:rPr>
                                <m:t>𝐹</m:t>
                              </m:r>
                            </m:e>
                            <m:sub>
                              <m:r>
                                <a:rPr lang="fr-FR" b="0" i="1" dirty="0" smtClean="0">
                                  <a:latin typeface="Cambria Math" panose="02040503050406030204" pitchFamily="18" charset="0"/>
                                </a:rPr>
                                <m:t>𝑣</m:t>
                              </m:r>
                            </m:sub>
                          </m:sSub>
                        </m:num>
                        <m:den>
                          <m:sSub>
                            <m:sSubPr>
                              <m:ctrlPr>
                                <a:rPr lang="fr-FR" b="0" i="1" dirty="0" smtClean="0">
                                  <a:latin typeface="Cambria Math" panose="02040503050406030204" pitchFamily="18" charset="0"/>
                                </a:rPr>
                              </m:ctrlPr>
                            </m:sSubPr>
                            <m:e>
                              <m:r>
                                <a:rPr lang="fr-FR" b="0" i="1" dirty="0" smtClean="0">
                                  <a:latin typeface="Cambria Math" panose="02040503050406030204" pitchFamily="18" charset="0"/>
                                </a:rPr>
                                <m:t>𝐹</m:t>
                              </m:r>
                            </m:e>
                            <m:sub>
                              <m:r>
                                <a:rPr lang="fr-FR" b="0" i="1" dirty="0" smtClean="0">
                                  <a:latin typeface="Cambria Math" panose="02040503050406030204" pitchFamily="18" charset="0"/>
                                </a:rPr>
                                <m:t>𝑀</m:t>
                              </m:r>
                            </m:sub>
                          </m:sSub>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r>
                            <m:rPr>
                              <m:sty m:val="p"/>
                            </m:rPr>
                            <a:rPr lang="fr-FR" b="0" i="0" smtClean="0">
                              <a:latin typeface="Cambria Math" panose="02040503050406030204" pitchFamily="18" charset="0"/>
                            </a:rPr>
                            <m:t>max</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fr-FR" b="0" i="1" smtClean="0">
                                  <a:latin typeface="Cambria Math" panose="02040503050406030204" pitchFamily="18" charset="0"/>
                                </a:rPr>
                                <m:t>𝑃</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Sub>
                        </m:den>
                      </m:f>
                    </m:oMath>
                  </m:oMathPara>
                </a14:m>
                <a:endParaRPr lang="en-US" dirty="0"/>
              </a:p>
            </p:txBody>
          </p:sp>
        </mc:Choice>
        <mc:Fallback xmlns="">
          <p:sp>
            <p:nvSpPr>
              <p:cNvPr id="20" name="ZoneTexte 19">
                <a:extLst>
                  <a:ext uri="{FF2B5EF4-FFF2-40B4-BE49-F238E27FC236}">
                    <a16:creationId xmlns:a16="http://schemas.microsoft.com/office/drawing/2014/main" id="{9370011C-8A21-F9FB-5506-0651B5990D91}"/>
                  </a:ext>
                </a:extLst>
              </p:cNvPr>
              <p:cNvSpPr txBox="1">
                <a:spLocks noRot="1" noChangeAspect="1" noMove="1" noResize="1" noEditPoints="1" noAdjustHandles="1" noChangeArrowheads="1" noChangeShapeType="1" noTextEdit="1"/>
              </p:cNvSpPr>
              <p:nvPr/>
            </p:nvSpPr>
            <p:spPr>
              <a:xfrm>
                <a:off x="2944053" y="4335399"/>
                <a:ext cx="3299686" cy="693651"/>
              </a:xfrm>
              <a:prstGeom prst="rect">
                <a:avLst/>
              </a:prstGeom>
              <a:blipFill>
                <a:blip r:embed="rId9"/>
                <a:stretch>
                  <a:fillRect/>
                </a:stretch>
              </a:blipFill>
            </p:spPr>
            <p:txBody>
              <a:bodyPr/>
              <a:lstStyle/>
              <a:p>
                <a:r>
                  <a:rPr lang="en-GB">
                    <a:noFill/>
                  </a:rPr>
                  <a:t> </a:t>
                </a:r>
              </a:p>
            </p:txBody>
          </p:sp>
        </mc:Fallback>
      </mc:AlternateContent>
      <p:sp>
        <p:nvSpPr>
          <p:cNvPr id="4" name="ZoneTexte 1">
            <a:extLst>
              <a:ext uri="{FF2B5EF4-FFF2-40B4-BE49-F238E27FC236}">
                <a16:creationId xmlns:a16="http://schemas.microsoft.com/office/drawing/2014/main" id="{EBDDB8F4-151E-C9A5-2916-324A7CD317E8}"/>
              </a:ext>
            </a:extLst>
          </p:cNvPr>
          <p:cNvSpPr txBox="1"/>
          <p:nvPr/>
        </p:nvSpPr>
        <p:spPr>
          <a:xfrm>
            <a:off x="7175147" y="43757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12C8DDED-98E7-B172-111A-5E8A067DD166}"/>
              </a:ext>
            </a:extLst>
          </p:cNvPr>
          <p:cNvPicPr>
            <a:picLocks noChangeAspect="1"/>
          </p:cNvPicPr>
          <p:nvPr/>
        </p:nvPicPr>
        <p:blipFill>
          <a:blip r:embed="rId7">
            <a:extLst>
              <a:ext uri="{28A0092B-C50C-407E-A947-70E740481C1C}">
                <a14:useLocalDpi xmlns:a14="http://schemas.microsoft.com/office/drawing/2010/main" val="0"/>
              </a:ext>
            </a:extLst>
          </a:blip>
          <a:srcRect l="84415" t="39740" r="-3388" b="38784"/>
          <a:stretch/>
        </p:blipFill>
        <p:spPr>
          <a:xfrm>
            <a:off x="7236259" y="2482955"/>
            <a:ext cx="1519615" cy="335498"/>
          </a:xfrm>
          <a:prstGeom prst="rect">
            <a:avLst/>
          </a:prstGeom>
        </p:spPr>
      </p:pic>
    </p:spTree>
    <p:extLst>
      <p:ext uri="{BB962C8B-B14F-4D97-AF65-F5344CB8AC3E}">
        <p14:creationId xmlns:p14="http://schemas.microsoft.com/office/powerpoint/2010/main" val="2956627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132CC7-AA8B-66F3-F733-AB9CA33DB8D7}"/>
              </a:ext>
            </a:extLst>
          </p:cNvPr>
          <p:cNvSpPr>
            <a:spLocks noGrp="1"/>
          </p:cNvSpPr>
          <p:nvPr>
            <p:ph type="title"/>
          </p:nvPr>
        </p:nvSpPr>
        <p:spPr/>
        <p:txBody>
          <a:bodyPr/>
          <a:lstStyle/>
          <a:p>
            <a:r>
              <a:rPr lang="fr-FR" dirty="0"/>
              <a:t>Fluorescence </a:t>
            </a:r>
            <a:r>
              <a:rPr lang="fr-FR" dirty="0" err="1"/>
              <a:t>from</a:t>
            </a:r>
            <a:r>
              <a:rPr lang="fr-FR" dirty="0"/>
              <a:t> light-</a:t>
            </a:r>
            <a:r>
              <a:rPr lang="fr-FR" dirty="0" err="1"/>
              <a:t>adapted</a:t>
            </a:r>
            <a:r>
              <a:rPr lang="fr-FR" dirty="0"/>
              <a:t> </a:t>
            </a:r>
            <a:r>
              <a:rPr lang="fr-FR" dirty="0" err="1"/>
              <a:t>cells</a:t>
            </a:r>
            <a:endParaRPr lang="en-GB" dirty="0"/>
          </a:p>
        </p:txBody>
      </p:sp>
      <p:sp>
        <p:nvSpPr>
          <p:cNvPr id="3" name="Espace réservé du numéro de diapositive 2">
            <a:extLst>
              <a:ext uri="{FF2B5EF4-FFF2-40B4-BE49-F238E27FC236}">
                <a16:creationId xmlns:a16="http://schemas.microsoft.com/office/drawing/2014/main" id="{6DDE7D9D-D5F6-AB34-9622-82116E3557A7}"/>
              </a:ext>
            </a:extLst>
          </p:cNvPr>
          <p:cNvSpPr>
            <a:spLocks noGrp="1"/>
          </p:cNvSpPr>
          <p:nvPr>
            <p:ph type="sldNum" sz="quarter" idx="12"/>
          </p:nvPr>
        </p:nvSpPr>
        <p:spPr/>
        <p:txBody>
          <a:bodyPr/>
          <a:lstStyle/>
          <a:p>
            <a:fld id="{E9791B11-EC80-479C-9EB2-AD35BA691394}" type="slidenum">
              <a:rPr lang="fr-FR" smtClean="0"/>
              <a:pPr/>
              <a:t>9</a:t>
            </a:fld>
            <a:endParaRPr lang="fr-FR" dirty="0"/>
          </a:p>
        </p:txBody>
      </p:sp>
      <p:grpSp>
        <p:nvGrpSpPr>
          <p:cNvPr id="14" name="Groupe 13">
            <a:extLst>
              <a:ext uri="{FF2B5EF4-FFF2-40B4-BE49-F238E27FC236}">
                <a16:creationId xmlns:a16="http://schemas.microsoft.com/office/drawing/2014/main" id="{7E6B5C05-21F8-90C1-47DA-5AB1CFC655E1}"/>
              </a:ext>
            </a:extLst>
          </p:cNvPr>
          <p:cNvGrpSpPr/>
          <p:nvPr/>
        </p:nvGrpSpPr>
        <p:grpSpPr>
          <a:xfrm>
            <a:off x="64154" y="422768"/>
            <a:ext cx="1644660" cy="1245429"/>
            <a:chOff x="64154" y="422768"/>
            <a:chExt cx="1644660" cy="1245429"/>
          </a:xfrm>
        </p:grpSpPr>
        <p:pic>
          <p:nvPicPr>
            <p:cNvPr id="13" name="Image 12">
              <a:extLst>
                <a:ext uri="{FF2B5EF4-FFF2-40B4-BE49-F238E27FC236}">
                  <a16:creationId xmlns:a16="http://schemas.microsoft.com/office/drawing/2014/main" id="{D9BAF9C5-63F8-10C6-FF19-98FDA1E2A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7" name="Rounded Rectangle 30">
              <a:extLst>
                <a:ext uri="{FF2B5EF4-FFF2-40B4-BE49-F238E27FC236}">
                  <a16:creationId xmlns:a16="http://schemas.microsoft.com/office/drawing/2014/main" id="{1064BF9B-4E9D-C89B-5C7C-519C4112301D}"/>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8" name="Rounded Rectangle 30">
              <a:extLst>
                <a:ext uri="{FF2B5EF4-FFF2-40B4-BE49-F238E27FC236}">
                  <a16:creationId xmlns:a16="http://schemas.microsoft.com/office/drawing/2014/main" id="{DB7C33A0-95CC-A986-E157-601280B5A02C}"/>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9" name="Rounded Rectangle 30">
              <a:extLst>
                <a:ext uri="{FF2B5EF4-FFF2-40B4-BE49-F238E27FC236}">
                  <a16:creationId xmlns:a16="http://schemas.microsoft.com/office/drawing/2014/main" id="{52595625-BE54-0D03-A86C-DCE16E58DC4A}"/>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BBAE22E-D4C3-9A67-6A12-D06F7A36FBF0}"/>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0" name="ZoneTexte 9">
                  <a:extLst>
                    <a:ext uri="{FF2B5EF4-FFF2-40B4-BE49-F238E27FC236}">
                      <a16:creationId xmlns:a16="http://schemas.microsoft.com/office/drawing/2014/main" id="{FBBAE22E-D4C3-9A67-6A12-D06F7A36FBF0}"/>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87035A-63DC-C860-7069-1A38E9127948}"/>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1" name="ZoneTexte 10">
                  <a:extLst>
                    <a:ext uri="{FF2B5EF4-FFF2-40B4-BE49-F238E27FC236}">
                      <a16:creationId xmlns:a16="http://schemas.microsoft.com/office/drawing/2014/main" id="{1887035A-63DC-C860-7069-1A38E9127948}"/>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B8FC63B2-7144-3776-A4DF-6D58220866CE}"/>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12" name="ZoneTexte 11">
                  <a:extLst>
                    <a:ext uri="{FF2B5EF4-FFF2-40B4-BE49-F238E27FC236}">
                      <a16:creationId xmlns:a16="http://schemas.microsoft.com/office/drawing/2014/main" id="{B8FC63B2-7144-3776-A4DF-6D58220866CE}"/>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14DAC877-223C-FBD3-83D4-DFE62A49BB5B}"/>
                  </a:ext>
                </a:extLst>
              </p:cNvPr>
              <p:cNvSpPr txBox="1"/>
              <p:nvPr/>
            </p:nvSpPr>
            <p:spPr>
              <a:xfrm>
                <a:off x="1748084" y="2731494"/>
                <a:ext cx="5427063" cy="667747"/>
              </a:xfrm>
              <a:prstGeom prst="rect">
                <a:avLst/>
              </a:prstGeom>
              <a:noFill/>
            </p:spPr>
            <p:txBody>
              <a:bodyPr wrap="none" rtlCol="0">
                <a:spAutoFit/>
              </a:bodyPr>
              <a:lstStyle/>
              <a:p>
                <a:pPr algn="ctr"/>
                <a14:m>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𝑣</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oMath>
                </a14:m>
                <a:r>
                  <a:rPr lang="en-US" dirty="0"/>
                  <a:t>: variable fluorescence in light conditions</a:t>
                </a:r>
              </a:p>
              <a:p>
                <a:pPr algn="ctr"/>
                <a14:m>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𝑞</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𝐹</m:t>
                    </m:r>
                    <m:r>
                      <a:rPr lang="fr-FR" b="0" i="1" smtClean="0">
                        <a:latin typeface="Cambria Math" panose="02040503050406030204" pitchFamily="18" charset="0"/>
                      </a:rPr>
                      <m:t>′</m:t>
                    </m:r>
                  </m:oMath>
                </a14:m>
                <a:r>
                  <a:rPr lang="en-US" dirty="0"/>
                  <a:t>: quenched fluorescence in light conditions</a:t>
                </a:r>
              </a:p>
            </p:txBody>
          </p:sp>
        </mc:Choice>
        <mc:Fallback xmlns="">
          <p:sp>
            <p:nvSpPr>
              <p:cNvPr id="19" name="ZoneTexte 18">
                <a:extLst>
                  <a:ext uri="{FF2B5EF4-FFF2-40B4-BE49-F238E27FC236}">
                    <a16:creationId xmlns:a16="http://schemas.microsoft.com/office/drawing/2014/main" id="{14DAC877-223C-FBD3-83D4-DFE62A49BB5B}"/>
                  </a:ext>
                </a:extLst>
              </p:cNvPr>
              <p:cNvSpPr txBox="1">
                <a:spLocks noRot="1" noChangeAspect="1" noMove="1" noResize="1" noEditPoints="1" noAdjustHandles="1" noChangeArrowheads="1" noChangeShapeType="1" noTextEdit="1"/>
              </p:cNvSpPr>
              <p:nvPr/>
            </p:nvSpPr>
            <p:spPr>
              <a:xfrm>
                <a:off x="1748084" y="2731494"/>
                <a:ext cx="5427063" cy="667747"/>
              </a:xfrm>
              <a:prstGeom prst="rect">
                <a:avLst/>
              </a:prstGeom>
              <a:blipFill>
                <a:blip r:embed="rId6"/>
                <a:stretch>
                  <a:fillRect t="-4545" r="-449"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9370011C-8A21-F9FB-5506-0651B5990D91}"/>
                  </a:ext>
                </a:extLst>
              </p:cNvPr>
              <p:cNvSpPr txBox="1"/>
              <p:nvPr/>
            </p:nvSpPr>
            <p:spPr>
              <a:xfrm>
                <a:off x="2839538" y="3487296"/>
                <a:ext cx="3464923" cy="7214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𝑣</m:t>
                              </m:r>
                            </m:sub>
                            <m:sup>
                              <m:r>
                                <a:rPr lang="fr-FR" b="0" i="1" dirty="0" smtClean="0">
                                  <a:latin typeface="Cambria Math" panose="02040503050406030204" pitchFamily="18" charset="0"/>
                                </a:rPr>
                                <m:t>′</m:t>
                              </m:r>
                            </m:sup>
                          </m:sSubSup>
                        </m:num>
                        <m:den>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𝑀</m:t>
                              </m:r>
                            </m:sub>
                            <m:sup>
                              <m:r>
                                <a:rPr lang="fr-FR" b="0" i="1" dirty="0" smtClean="0">
                                  <a:latin typeface="Cambria Math" panose="02040503050406030204" pitchFamily="18" charset="0"/>
                                </a:rPr>
                                <m:t>′</m:t>
                              </m:r>
                            </m:sup>
                          </m:sSubSup>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r>
                            <m:rPr>
                              <m:sty m:val="p"/>
                            </m:rPr>
                            <a:rPr lang="fr-FR" b="0" i="0" smtClean="0">
                              <a:latin typeface="Cambria Math" panose="02040503050406030204" pitchFamily="18" charset="0"/>
                            </a:rPr>
                            <m:t>max</m:t>
                          </m:r>
                        </m:sup>
                      </m:sSubSup>
                      <m:d>
                        <m:dPr>
                          <m:ctrlPr>
                            <a:rPr lang="fr-FR" b="0" i="1" smtClean="0">
                              <a:latin typeface="Cambria Math" panose="02040503050406030204" pitchFamily="18" charset="0"/>
                            </a:rPr>
                          </m:ctrlPr>
                        </m:dPr>
                        <m:e>
                          <m:r>
                            <a:rPr lang="fr-FR" b="0" i="1" smtClean="0">
                              <a:latin typeface="Cambria Math" panose="02040503050406030204" pitchFamily="18" charset="0"/>
                            </a:rPr>
                            <m:t>𝐼</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fr-FR" b="0" i="1" smtClean="0">
                                  <a:latin typeface="Cambria Math" panose="02040503050406030204" pitchFamily="18" charset="0"/>
                                </a:rPr>
                                <m:t>𝑃</m:t>
                              </m:r>
                            </m:sub>
                            <m:sup>
                              <m:r>
                                <a:rPr lang="fr-FR" b="0" i="1" smtClean="0">
                                  <a:latin typeface="Cambria Math" panose="02040503050406030204" pitchFamily="18" charset="0"/>
                                </a:rPr>
                                <m:t>′</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𝑃</m:t>
                              </m:r>
                            </m:sub>
                            <m:sup>
                              <m:r>
                                <a:rPr lang="fr-FR"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up>
                              <m:r>
                                <a:rPr lang="fr-FR" b="0" i="1" smtClean="0">
                                  <a:latin typeface="Cambria Math" panose="02040503050406030204" pitchFamily="18" charset="0"/>
                                </a:rPr>
                                <m:t>′</m:t>
                              </m:r>
                            </m:sup>
                          </m:sSubSup>
                        </m:den>
                      </m:f>
                    </m:oMath>
                  </m:oMathPara>
                </a14:m>
                <a:endParaRPr lang="en-US" dirty="0"/>
              </a:p>
            </p:txBody>
          </p:sp>
        </mc:Choice>
        <mc:Fallback xmlns="">
          <p:sp>
            <p:nvSpPr>
              <p:cNvPr id="20" name="ZoneTexte 19">
                <a:extLst>
                  <a:ext uri="{FF2B5EF4-FFF2-40B4-BE49-F238E27FC236}">
                    <a16:creationId xmlns:a16="http://schemas.microsoft.com/office/drawing/2014/main" id="{9370011C-8A21-F9FB-5506-0651B5990D91}"/>
                  </a:ext>
                </a:extLst>
              </p:cNvPr>
              <p:cNvSpPr txBox="1">
                <a:spLocks noRot="1" noChangeAspect="1" noMove="1" noResize="1" noEditPoints="1" noAdjustHandles="1" noChangeArrowheads="1" noChangeShapeType="1" noTextEdit="1"/>
              </p:cNvSpPr>
              <p:nvPr/>
            </p:nvSpPr>
            <p:spPr>
              <a:xfrm>
                <a:off x="2839538" y="3487296"/>
                <a:ext cx="3464923" cy="721416"/>
              </a:xfrm>
              <a:prstGeom prst="rect">
                <a:avLst/>
              </a:prstGeom>
              <a:blipFill>
                <a:blip r:embed="rId7"/>
                <a:stretch>
                  <a:fillRect/>
                </a:stretch>
              </a:blipFill>
            </p:spPr>
            <p:txBody>
              <a:bodyPr/>
              <a:lstStyle/>
              <a:p>
                <a:r>
                  <a:rPr lang="en-GB">
                    <a:noFill/>
                  </a:rPr>
                  <a:t> </a:t>
                </a:r>
              </a:p>
            </p:txBody>
          </p:sp>
        </mc:Fallback>
      </mc:AlternateContent>
      <p:pic>
        <p:nvPicPr>
          <p:cNvPr id="6" name="Image 5">
            <a:extLst>
              <a:ext uri="{FF2B5EF4-FFF2-40B4-BE49-F238E27FC236}">
                <a16:creationId xmlns:a16="http://schemas.microsoft.com/office/drawing/2014/main" id="{F36CDC69-0396-9F81-8865-CFAAF8DA7C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01746" y="1013068"/>
            <a:ext cx="5753593" cy="1450017"/>
          </a:xfrm>
          <a:prstGeom prst="rect">
            <a:avLst/>
          </a:prstGeom>
        </p:spPr>
      </p:pic>
      <p:sp>
        <p:nvSpPr>
          <p:cNvPr id="15" name="ZoneTexte 1">
            <a:extLst>
              <a:ext uri="{FF2B5EF4-FFF2-40B4-BE49-F238E27FC236}">
                <a16:creationId xmlns:a16="http://schemas.microsoft.com/office/drawing/2014/main" id="{3D3BE2DC-A107-1914-A4A9-2926C4D9B990}"/>
              </a:ext>
            </a:extLst>
          </p:cNvPr>
          <p:cNvSpPr txBox="1"/>
          <p:nvPr/>
        </p:nvSpPr>
        <p:spPr>
          <a:xfrm>
            <a:off x="7175147" y="496084"/>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A14D0738-E3D4-5ADE-B4C9-2E2DC754BEFF}"/>
                  </a:ext>
                </a:extLst>
              </p:cNvPr>
              <p:cNvSpPr txBox="1"/>
              <p:nvPr/>
            </p:nvSpPr>
            <p:spPr>
              <a:xfrm>
                <a:off x="2839538" y="4342816"/>
                <a:ext cx="3916007" cy="7335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𝑞</m:t>
                              </m:r>
                            </m:sub>
                            <m:sup>
                              <m:r>
                                <a:rPr lang="fr-FR" b="0" i="1" dirty="0" smtClean="0">
                                  <a:latin typeface="Cambria Math" panose="02040503050406030204" pitchFamily="18" charset="0"/>
                                </a:rPr>
                                <m:t>′</m:t>
                              </m:r>
                            </m:sup>
                          </m:sSubSup>
                        </m:num>
                        <m:den>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𝑀</m:t>
                              </m:r>
                            </m:sub>
                            <m:sup>
                              <m:r>
                                <a:rPr lang="fr-FR" b="0" i="1" dirty="0" smtClean="0">
                                  <a:latin typeface="Cambria Math" panose="02040503050406030204" pitchFamily="18" charset="0"/>
                                </a:rPr>
                                <m:t>′</m:t>
                              </m:r>
                            </m:sup>
                          </m:sSubSup>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sSubSup>
                      <m:d>
                        <m:dPr>
                          <m:ctrlPr>
                            <a:rPr lang="fr-FR" b="0" i="1" smtClean="0">
                              <a:latin typeface="Cambria Math" panose="02040503050406030204" pitchFamily="18" charset="0"/>
                            </a:rPr>
                          </m:ctrlPr>
                        </m:dPr>
                        <m:e>
                          <m:r>
                            <a:rPr lang="fr-FR" b="0" i="1" smtClean="0">
                              <a:latin typeface="Cambria Math" panose="02040503050406030204" pitchFamily="18" charset="0"/>
                            </a:rPr>
                            <m:t>𝐼</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fr-FR" b="0" i="1" smtClean="0">
                                  <a:latin typeface="Cambria Math" panose="02040503050406030204" pitchFamily="18" charset="0"/>
                                </a:rPr>
                                <m:t>𝑃</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𝑄</m:t>
                              </m:r>
                            </m:e>
                            <m:sub>
                              <m:r>
                                <a:rPr lang="fr-FR" b="0" i="1" smtClean="0">
                                  <a:latin typeface="Cambria Math" panose="02040503050406030204" pitchFamily="18" charset="0"/>
                                </a:rPr>
                                <m:t>𝐴</m:t>
                              </m:r>
                            </m:sub>
                          </m:sSub>
                          <m:r>
                            <a:rPr lang="fr-FR"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𝑃</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𝑄</m:t>
                              </m:r>
                            </m:e>
                            <m:sub>
                              <m:r>
                                <a:rPr lang="fr-FR" b="0" i="1" smtClean="0">
                                  <a:latin typeface="Cambria Math" panose="02040503050406030204" pitchFamily="18" charset="0"/>
                                </a:rPr>
                                <m:t>𝐴</m:t>
                              </m:r>
                            </m:sub>
                          </m:sSub>
                          <m:r>
                            <a:rPr lang="fr-FR" b="0" i="1" smtClean="0">
                              <a:latin typeface="Cambria Math" panose="02040503050406030204" pitchFamily="18" charset="0"/>
                            </a:rPr>
                            <m:t>]</m:t>
                          </m:r>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up>
                              <m:r>
                                <a:rPr lang="fr-FR" b="0" i="1" smtClean="0">
                                  <a:latin typeface="Cambria Math" panose="02040503050406030204" pitchFamily="18" charset="0"/>
                                </a:rPr>
                                <m:t>′</m:t>
                              </m:r>
                            </m:sup>
                          </m:sSubSup>
                        </m:den>
                      </m:f>
                    </m:oMath>
                  </m:oMathPara>
                </a14:m>
                <a:endParaRPr lang="en-US" dirty="0"/>
              </a:p>
            </p:txBody>
          </p:sp>
        </mc:Choice>
        <mc:Fallback xmlns="">
          <p:sp>
            <p:nvSpPr>
              <p:cNvPr id="22" name="ZoneTexte 21">
                <a:extLst>
                  <a:ext uri="{FF2B5EF4-FFF2-40B4-BE49-F238E27FC236}">
                    <a16:creationId xmlns:a16="http://schemas.microsoft.com/office/drawing/2014/main" id="{A14D0738-E3D4-5ADE-B4C9-2E2DC754BEFF}"/>
                  </a:ext>
                </a:extLst>
              </p:cNvPr>
              <p:cNvSpPr txBox="1">
                <a:spLocks noRot="1" noChangeAspect="1" noMove="1" noResize="1" noEditPoints="1" noAdjustHandles="1" noChangeArrowheads="1" noChangeShapeType="1" noTextEdit="1"/>
              </p:cNvSpPr>
              <p:nvPr/>
            </p:nvSpPr>
            <p:spPr>
              <a:xfrm>
                <a:off x="2839538" y="4342816"/>
                <a:ext cx="3916007" cy="733599"/>
              </a:xfrm>
              <a:prstGeom prst="rect">
                <a:avLst/>
              </a:prstGeom>
              <a:blipFill>
                <a:blip r:embed="rId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7536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demonstration</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10</a:t>
            </a:fld>
            <a:endParaRPr lang="fr-FR" dirty="0"/>
          </a:p>
        </p:txBody>
      </p:sp>
      <p:sp>
        <p:nvSpPr>
          <p:cNvPr id="14" name="ZoneTexte 13">
            <a:extLst>
              <a:ext uri="{FF2B5EF4-FFF2-40B4-BE49-F238E27FC236}">
                <a16:creationId xmlns:a16="http://schemas.microsoft.com/office/drawing/2014/main" id="{B1AD96A1-A4D9-680C-8B78-695A74788221}"/>
              </a:ext>
            </a:extLst>
          </p:cNvPr>
          <p:cNvSpPr txBox="1"/>
          <p:nvPr/>
        </p:nvSpPr>
        <p:spPr>
          <a:xfrm>
            <a:off x="911382" y="422768"/>
            <a:ext cx="6846746" cy="369332"/>
          </a:xfrm>
          <a:prstGeom prst="rect">
            <a:avLst/>
          </a:prstGeom>
          <a:noFill/>
        </p:spPr>
        <p:txBody>
          <a:bodyPr wrap="none" rtlCol="0">
            <a:spAutoFit/>
          </a:bodyPr>
          <a:lstStyle/>
          <a:p>
            <a:r>
              <a:rPr lang="en-US" b="0" dirty="0"/>
              <a:t>Absolute fluorescent signal is not required, relative changes are enough.</a:t>
            </a:r>
            <a:endParaRPr lang="en-US" dirty="0"/>
          </a:p>
        </p:txBody>
      </p:sp>
      <p:pic>
        <p:nvPicPr>
          <p:cNvPr id="4" name="Image 3">
            <a:extLst>
              <a:ext uri="{FF2B5EF4-FFF2-40B4-BE49-F238E27FC236}">
                <a16:creationId xmlns:a16="http://schemas.microsoft.com/office/drawing/2014/main" id="{DBAA1FEF-B868-2AAE-45C3-F076EC16AEC7}"/>
              </a:ext>
            </a:extLst>
          </p:cNvPr>
          <p:cNvPicPr>
            <a:picLocks noChangeAspect="1"/>
          </p:cNvPicPr>
          <p:nvPr/>
        </p:nvPicPr>
        <p:blipFill>
          <a:blip r:embed="rId2">
            <a:extLst>
              <a:ext uri="{28A0092B-C50C-407E-A947-70E740481C1C}">
                <a14:useLocalDpi xmlns:a14="http://schemas.microsoft.com/office/drawing/2010/main" val="0"/>
              </a:ext>
            </a:extLst>
          </a:blip>
          <a:srcRect b="51779"/>
          <a:stretch/>
        </p:blipFill>
        <p:spPr>
          <a:xfrm>
            <a:off x="5178892" y="792101"/>
            <a:ext cx="2993726" cy="1924786"/>
          </a:xfrm>
          <a:prstGeom prst="rect">
            <a:avLst/>
          </a:prstGeom>
        </p:spPr>
      </p:pic>
      <p:sp>
        <p:nvSpPr>
          <p:cNvPr id="16" name="ZoneTexte 15">
            <a:extLst>
              <a:ext uri="{FF2B5EF4-FFF2-40B4-BE49-F238E27FC236}">
                <a16:creationId xmlns:a16="http://schemas.microsoft.com/office/drawing/2014/main" id="{C0FEC8ED-CE76-F1E7-6548-CC660EEC81D5}"/>
              </a:ext>
            </a:extLst>
          </p:cNvPr>
          <p:cNvSpPr txBox="1"/>
          <p:nvPr/>
        </p:nvSpPr>
        <p:spPr>
          <a:xfrm>
            <a:off x="81074" y="1142581"/>
            <a:ext cx="4355460" cy="3416320"/>
          </a:xfrm>
          <a:prstGeom prst="rect">
            <a:avLst/>
          </a:prstGeom>
          <a:noFill/>
        </p:spPr>
        <p:txBody>
          <a:bodyPr wrap="square" rtlCol="0">
            <a:spAutoFit/>
          </a:bodyPr>
          <a:lstStyle/>
          <a:p>
            <a:r>
              <a:rPr lang="en-US" b="0" dirty="0"/>
              <a:t>ML (or MP): </a:t>
            </a:r>
            <a:r>
              <a:rPr lang="en-US" b="0" dirty="0" err="1"/>
              <a:t>Mesuring</a:t>
            </a:r>
            <a:r>
              <a:rPr lang="en-US" b="0" dirty="0"/>
              <a:t> Light (or Pulse), </a:t>
            </a:r>
            <a:r>
              <a:rPr lang="en-GB" b="0" dirty="0"/>
              <a:t>very weak, modulated light used to measure fluorescence without significantly driving photosynthesis</a:t>
            </a:r>
          </a:p>
          <a:p>
            <a:endParaRPr lang="en-GB" dirty="0"/>
          </a:p>
          <a:p>
            <a:r>
              <a:rPr lang="en-GB" dirty="0"/>
              <a:t>AL: Actinic Light, continuous illumination driving photosynthesis and physiological adaptation.</a:t>
            </a:r>
          </a:p>
          <a:p>
            <a:endParaRPr lang="en-GB" dirty="0"/>
          </a:p>
          <a:p>
            <a:r>
              <a:rPr lang="en-GB" dirty="0"/>
              <a:t>SP (or SF): Saturating Pulse (or Flash), brief and extremely intense flash that temporarily closes all PSII reaction centres</a:t>
            </a:r>
            <a:endParaRPr lang="en-US" dirty="0"/>
          </a:p>
        </p:txBody>
      </p:sp>
      <p:sp>
        <p:nvSpPr>
          <p:cNvPr id="17" name="Text Box 9">
            <a:extLst>
              <a:ext uri="{FF2B5EF4-FFF2-40B4-BE49-F238E27FC236}">
                <a16:creationId xmlns:a16="http://schemas.microsoft.com/office/drawing/2014/main" id="{199C623A-52F5-BC2C-6C5E-B3B00CF0389E}"/>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pic>
        <p:nvPicPr>
          <p:cNvPr id="5" name="Image 1">
            <a:extLst>
              <a:ext uri="{FF2B5EF4-FFF2-40B4-BE49-F238E27FC236}">
                <a16:creationId xmlns:a16="http://schemas.microsoft.com/office/drawing/2014/main" id="{81BE5C47-40D8-E0F4-2E52-125C9CD08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587" y="2871420"/>
            <a:ext cx="2239741" cy="1669241"/>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30">
            <a:extLst>
              <a:ext uri="{FF2B5EF4-FFF2-40B4-BE49-F238E27FC236}">
                <a16:creationId xmlns:a16="http://schemas.microsoft.com/office/drawing/2014/main" id="{5B097631-3FCA-1D5F-910D-587538D9B0CB}"/>
              </a:ext>
            </a:extLst>
          </p:cNvPr>
          <p:cNvSpPr/>
          <p:nvPr/>
        </p:nvSpPr>
        <p:spPr>
          <a:xfrm>
            <a:off x="5934186" y="4595859"/>
            <a:ext cx="1962542" cy="246221"/>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Demo</a:t>
            </a:r>
            <a:r>
              <a:rPr lang="fr-FR" sz="1200" b="1" dirty="0">
                <a:solidFill>
                  <a:schemeClr val="tx1"/>
                </a:solidFill>
                <a:latin typeface="Times New Roman" panose="02020603050405020304" pitchFamily="18" charset="0"/>
                <a:cs typeface="Times New Roman" panose="02020603050405020304" pitchFamily="18" charset="0"/>
              </a:rPr>
              <a:t> on: </a:t>
            </a:r>
            <a:r>
              <a:rPr lang="fr-FR" sz="1200" b="1" dirty="0" err="1">
                <a:solidFill>
                  <a:schemeClr val="tx1"/>
                </a:solidFill>
                <a:latin typeface="Times New Roman" panose="02020603050405020304" pitchFamily="18" charset="0"/>
                <a:cs typeface="Times New Roman" panose="02020603050405020304" pitchFamily="18" charset="0"/>
              </a:rPr>
              <a:t>Microscopy</a:t>
            </a:r>
            <a:r>
              <a:rPr lang="fr-FR" sz="1200" b="1" dirty="0">
                <a:solidFill>
                  <a:schemeClr val="tx1"/>
                </a:solidFill>
                <a:latin typeface="Times New Roman" panose="02020603050405020304" pitchFamily="18" charset="0"/>
                <a:cs typeface="Times New Roman" panose="02020603050405020304" pitchFamily="18" charset="0"/>
              </a:rPr>
              <a:t> PAM</a:t>
            </a:r>
          </a:p>
        </p:txBody>
      </p:sp>
    </p:spTree>
    <p:extLst>
      <p:ext uri="{BB962C8B-B14F-4D97-AF65-F5344CB8AC3E}">
        <p14:creationId xmlns:p14="http://schemas.microsoft.com/office/powerpoint/2010/main" val="3438660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fluorescence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11</a:t>
            </a:fld>
            <a:endParaRPr lang="fr-FR" dirty="0"/>
          </a:p>
        </p:txBody>
      </p:sp>
      <p:sp>
        <p:nvSpPr>
          <p:cNvPr id="14" name="ZoneTexte 13">
            <a:extLst>
              <a:ext uri="{FF2B5EF4-FFF2-40B4-BE49-F238E27FC236}">
                <a16:creationId xmlns:a16="http://schemas.microsoft.com/office/drawing/2014/main" id="{B1AD96A1-A4D9-680C-8B78-695A74788221}"/>
              </a:ext>
            </a:extLst>
          </p:cNvPr>
          <p:cNvSpPr txBox="1"/>
          <p:nvPr/>
        </p:nvSpPr>
        <p:spPr>
          <a:xfrm>
            <a:off x="911382" y="422768"/>
            <a:ext cx="6846746" cy="369332"/>
          </a:xfrm>
          <a:prstGeom prst="rect">
            <a:avLst/>
          </a:prstGeom>
          <a:noFill/>
        </p:spPr>
        <p:txBody>
          <a:bodyPr wrap="none" rtlCol="0">
            <a:spAutoFit/>
          </a:bodyPr>
          <a:lstStyle/>
          <a:p>
            <a:r>
              <a:rPr lang="en-US" b="0" dirty="0"/>
              <a:t>Absolute fluorescent signal is not required, relative changes are enough.</a:t>
            </a:r>
            <a:endParaRPr lang="en-US" dirty="0"/>
          </a:p>
        </p:txBody>
      </p:sp>
      <p:pic>
        <p:nvPicPr>
          <p:cNvPr id="4" name="Image 3">
            <a:extLst>
              <a:ext uri="{FF2B5EF4-FFF2-40B4-BE49-F238E27FC236}">
                <a16:creationId xmlns:a16="http://schemas.microsoft.com/office/drawing/2014/main" id="{DBAA1FEF-B868-2AAE-45C3-F076EC16A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p:sp>
        <p:nvSpPr>
          <p:cNvPr id="16" name="ZoneTexte 15">
            <a:extLst>
              <a:ext uri="{FF2B5EF4-FFF2-40B4-BE49-F238E27FC236}">
                <a16:creationId xmlns:a16="http://schemas.microsoft.com/office/drawing/2014/main" id="{C0FEC8ED-CE76-F1E7-6548-CC660EEC81D5}"/>
              </a:ext>
            </a:extLst>
          </p:cNvPr>
          <p:cNvSpPr txBox="1"/>
          <p:nvPr/>
        </p:nvSpPr>
        <p:spPr>
          <a:xfrm>
            <a:off x="81074" y="1142581"/>
            <a:ext cx="4355460" cy="3416320"/>
          </a:xfrm>
          <a:prstGeom prst="rect">
            <a:avLst/>
          </a:prstGeom>
          <a:noFill/>
        </p:spPr>
        <p:txBody>
          <a:bodyPr wrap="square" rtlCol="0">
            <a:spAutoFit/>
          </a:bodyPr>
          <a:lstStyle/>
          <a:p>
            <a:r>
              <a:rPr lang="en-US" b="0" dirty="0"/>
              <a:t>ML (or MP): </a:t>
            </a:r>
            <a:r>
              <a:rPr lang="en-US" b="0" dirty="0" err="1"/>
              <a:t>Mesuring</a:t>
            </a:r>
            <a:r>
              <a:rPr lang="en-US" b="0" dirty="0"/>
              <a:t> Light (or Pulse), </a:t>
            </a:r>
            <a:r>
              <a:rPr lang="en-GB" b="0" dirty="0"/>
              <a:t>very weak, modulated light used to measure fluorescence without significantly driving photosynthesis</a:t>
            </a:r>
          </a:p>
          <a:p>
            <a:endParaRPr lang="en-GB" dirty="0"/>
          </a:p>
          <a:p>
            <a:r>
              <a:rPr lang="en-GB" dirty="0"/>
              <a:t>AL: Actinic Light, continuous illumination driving photosynthesis and physiological adaptation.</a:t>
            </a:r>
          </a:p>
          <a:p>
            <a:endParaRPr lang="en-GB" dirty="0"/>
          </a:p>
          <a:p>
            <a:r>
              <a:rPr lang="en-GB" dirty="0"/>
              <a:t>SP (or SF): Saturating Pulse (or Flash), brief and extremely intense flash that temporarily closes all PSII reaction centres</a:t>
            </a:r>
            <a:endParaRPr lang="en-US" dirty="0"/>
          </a:p>
        </p:txBody>
      </p:sp>
      <p:sp>
        <p:nvSpPr>
          <p:cNvPr id="17" name="Text Box 9">
            <a:extLst>
              <a:ext uri="{FF2B5EF4-FFF2-40B4-BE49-F238E27FC236}">
                <a16:creationId xmlns:a16="http://schemas.microsoft.com/office/drawing/2014/main" id="{199C623A-52F5-BC2C-6C5E-B3B00CF0389E}"/>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396596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inside</a:t>
            </a:r>
            <a:r>
              <a:rPr lang="fr-FR" dirty="0"/>
              <a:t> the machine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12</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4CB114D-F2B2-0137-A516-E2A5F099A934}"/>
                  </a:ext>
                </a:extLst>
              </p:cNvPr>
              <p:cNvSpPr txBox="1"/>
              <p:nvPr/>
            </p:nvSpPr>
            <p:spPr>
              <a:xfrm>
                <a:off x="200408" y="1711045"/>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5" name="ZoneTexte 4">
                <a:extLst>
                  <a:ext uri="{FF2B5EF4-FFF2-40B4-BE49-F238E27FC236}">
                    <a16:creationId xmlns:a16="http://schemas.microsoft.com/office/drawing/2014/main" id="{E4CB114D-F2B2-0137-A516-E2A5F099A934}"/>
                  </a:ext>
                </a:extLst>
              </p:cNvPr>
              <p:cNvSpPr txBox="1">
                <a:spLocks noRot="1" noChangeAspect="1" noMove="1" noResize="1" noEditPoints="1" noAdjustHandles="1" noChangeArrowheads="1" noChangeShapeType="1" noTextEdit="1"/>
              </p:cNvSpPr>
              <p:nvPr/>
            </p:nvSpPr>
            <p:spPr>
              <a:xfrm>
                <a:off x="200408" y="1711045"/>
                <a:ext cx="1933991" cy="530851"/>
              </a:xfrm>
              <a:prstGeom prst="rect">
                <a:avLst/>
              </a:prstGeom>
              <a:blipFill>
                <a:blip r:embed="rId2"/>
                <a:stretch>
                  <a:fillRect/>
                </a:stretch>
              </a:blipFill>
            </p:spPr>
            <p:txBody>
              <a:bodyPr/>
              <a:lstStyle/>
              <a:p>
                <a:r>
                  <a:rPr lang="en-GB">
                    <a:noFill/>
                  </a:rPr>
                  <a:t> </a:t>
                </a:r>
              </a:p>
            </p:txBody>
          </p:sp>
        </mc:Fallback>
      </mc:AlternateContent>
      <p:grpSp>
        <p:nvGrpSpPr>
          <p:cNvPr id="6" name="Groupe 5">
            <a:extLst>
              <a:ext uri="{FF2B5EF4-FFF2-40B4-BE49-F238E27FC236}">
                <a16:creationId xmlns:a16="http://schemas.microsoft.com/office/drawing/2014/main" id="{8B67585E-496A-9348-B725-D4E1ADC06C96}"/>
              </a:ext>
            </a:extLst>
          </p:cNvPr>
          <p:cNvGrpSpPr/>
          <p:nvPr/>
        </p:nvGrpSpPr>
        <p:grpSpPr>
          <a:xfrm>
            <a:off x="215457" y="470779"/>
            <a:ext cx="1644660" cy="1245429"/>
            <a:chOff x="64154" y="422768"/>
            <a:chExt cx="1644660" cy="1245429"/>
          </a:xfrm>
        </p:grpSpPr>
        <p:pic>
          <p:nvPicPr>
            <p:cNvPr id="7" name="Image 6">
              <a:extLst>
                <a:ext uri="{FF2B5EF4-FFF2-40B4-BE49-F238E27FC236}">
                  <a16:creationId xmlns:a16="http://schemas.microsoft.com/office/drawing/2014/main" id="{A187FF47-FCE8-DFC8-5D37-5B31565C4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8" name="Rounded Rectangle 30">
              <a:extLst>
                <a:ext uri="{FF2B5EF4-FFF2-40B4-BE49-F238E27FC236}">
                  <a16:creationId xmlns:a16="http://schemas.microsoft.com/office/drawing/2014/main" id="{181B551C-43BD-EE21-B374-CE54A8B45D92}"/>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9" name="Rounded Rectangle 30">
              <a:extLst>
                <a:ext uri="{FF2B5EF4-FFF2-40B4-BE49-F238E27FC236}">
                  <a16:creationId xmlns:a16="http://schemas.microsoft.com/office/drawing/2014/main" id="{26AA3FD0-C7D8-07D5-C48A-A8A1744D540F}"/>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10" name="Rounded Rectangle 30">
              <a:extLst>
                <a:ext uri="{FF2B5EF4-FFF2-40B4-BE49-F238E27FC236}">
                  <a16:creationId xmlns:a16="http://schemas.microsoft.com/office/drawing/2014/main" id="{20C63E9D-F5EA-FDEE-3464-ABAF2488444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02738CC-2CA2-C55E-92F6-7AF850D2F7CA}"/>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1" name="ZoneTexte 10">
                  <a:extLst>
                    <a:ext uri="{FF2B5EF4-FFF2-40B4-BE49-F238E27FC236}">
                      <a16:creationId xmlns:a16="http://schemas.microsoft.com/office/drawing/2014/main" id="{602738CC-2CA2-C55E-92F6-7AF850D2F7CA}"/>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CC39223-91C4-2C9E-AC2B-7695FCDD34A2}"/>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2" name="ZoneTexte 11">
                  <a:extLst>
                    <a:ext uri="{FF2B5EF4-FFF2-40B4-BE49-F238E27FC236}">
                      <a16:creationId xmlns:a16="http://schemas.microsoft.com/office/drawing/2014/main" id="{3CC39223-91C4-2C9E-AC2B-7695FCDD34A2}"/>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8008B91-22FD-C32F-4C1B-881F04B9EB54}"/>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3" name="ZoneTexte 12">
                  <a:extLst>
                    <a:ext uri="{FF2B5EF4-FFF2-40B4-BE49-F238E27FC236}">
                      <a16:creationId xmlns:a16="http://schemas.microsoft.com/office/drawing/2014/main" id="{F8008B91-22FD-C32F-4C1B-881F04B9EB54}"/>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22A18978-A4C8-D23F-FFA1-EDF8FB91AD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C6669267-9EC7-8CF7-72C9-0E78A7B430A7}"/>
                  </a:ext>
                </a:extLst>
              </p:cNvPr>
              <p:cNvSpPr txBox="1"/>
              <p:nvPr/>
            </p:nvSpPr>
            <p:spPr>
              <a:xfrm>
                <a:off x="2892501" y="3399802"/>
                <a:ext cx="1718997" cy="16326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𝐹</m:t>
                          </m:r>
                        </m:e>
                        <m:sub>
                          <m:r>
                            <a:rPr lang="fr-FR" b="0" i="1" smtClean="0">
                              <a:latin typeface="Cambria Math" panose="02040503050406030204" pitchFamily="18" charset="0"/>
                            </a:rPr>
                            <m:t>0</m:t>
                          </m:r>
                        </m:sub>
                      </m:sSub>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𝑏</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𝑎</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𝑐</m:t>
                          </m:r>
                        </m:num>
                        <m:den>
                          <m:r>
                            <a:rPr lang="fr-FR" b="0" i="1" smtClean="0">
                              <a:solidFill>
                                <a:schemeClr val="bg1"/>
                              </a:solidFill>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𝑒</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𝑑</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𝑒</m:t>
                          </m:r>
                        </m:num>
                        <m:den>
                          <m:r>
                            <a:rPr lang="fr-FR" b="0" i="1" smtClean="0">
                              <a:solidFill>
                                <a:schemeClr val="bg1"/>
                              </a:solidFill>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h</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𝑔</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𝑖</m:t>
                          </m:r>
                        </m:num>
                        <m:den>
                          <m:r>
                            <a:rPr lang="fr-FR" b="0" i="1" smtClean="0">
                              <a:solidFill>
                                <a:schemeClr val="bg1"/>
                              </a:solidFill>
                              <a:latin typeface="Cambria Math" panose="02040503050406030204" pitchFamily="18" charset="0"/>
                            </a:rPr>
                            <m:t>2</m:t>
                          </m:r>
                        </m:den>
                      </m:f>
                    </m:oMath>
                  </m:oMathPara>
                </a14:m>
                <a:endParaRPr lang="en-US" dirty="0"/>
              </a:p>
            </p:txBody>
          </p:sp>
        </mc:Choice>
        <mc:Fallback xmlns="">
          <p:sp>
            <p:nvSpPr>
              <p:cNvPr id="18" name="ZoneTexte 17">
                <a:extLst>
                  <a:ext uri="{FF2B5EF4-FFF2-40B4-BE49-F238E27FC236}">
                    <a16:creationId xmlns:a16="http://schemas.microsoft.com/office/drawing/2014/main" id="{C6669267-9EC7-8CF7-72C9-0E78A7B430A7}"/>
                  </a:ext>
                </a:extLst>
              </p:cNvPr>
              <p:cNvSpPr txBox="1">
                <a:spLocks noRot="1" noChangeAspect="1" noMove="1" noResize="1" noEditPoints="1" noAdjustHandles="1" noChangeArrowheads="1" noChangeShapeType="1" noTextEdit="1"/>
              </p:cNvSpPr>
              <p:nvPr/>
            </p:nvSpPr>
            <p:spPr>
              <a:xfrm>
                <a:off x="2892501" y="3399802"/>
                <a:ext cx="1718997" cy="1632691"/>
              </a:xfrm>
              <a:prstGeom prst="rect">
                <a:avLst/>
              </a:prstGeom>
              <a:blipFill>
                <a:blip r:embed="rId8"/>
                <a:stretch>
                  <a:fillRect/>
                </a:stretch>
              </a:blipFill>
            </p:spPr>
            <p:txBody>
              <a:bodyPr/>
              <a:lstStyle/>
              <a:p>
                <a:r>
                  <a:rPr lang="en-GB">
                    <a:noFill/>
                  </a:rPr>
                  <a:t> </a:t>
                </a:r>
              </a:p>
            </p:txBody>
          </p:sp>
        </mc:Fallback>
      </mc:AlternateContent>
      <p:sp>
        <p:nvSpPr>
          <p:cNvPr id="19" name="ZoneTexte 1">
            <a:extLst>
              <a:ext uri="{FF2B5EF4-FFF2-40B4-BE49-F238E27FC236}">
                <a16:creationId xmlns:a16="http://schemas.microsoft.com/office/drawing/2014/main" id="{212A4F92-5459-F74A-F66E-00CA42F714F5}"/>
              </a:ext>
            </a:extLst>
          </p:cNvPr>
          <p:cNvSpPr txBox="1"/>
          <p:nvPr/>
        </p:nvSpPr>
        <p:spPr>
          <a:xfrm>
            <a:off x="287210" y="229038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grpSp>
        <p:nvGrpSpPr>
          <p:cNvPr id="20" name="Groupe 19">
            <a:extLst>
              <a:ext uri="{FF2B5EF4-FFF2-40B4-BE49-F238E27FC236}">
                <a16:creationId xmlns:a16="http://schemas.microsoft.com/office/drawing/2014/main" id="{1419A107-2D90-7DB7-34F3-AFD54625A9EF}"/>
              </a:ext>
            </a:extLst>
          </p:cNvPr>
          <p:cNvGrpSpPr/>
          <p:nvPr/>
        </p:nvGrpSpPr>
        <p:grpSpPr>
          <a:xfrm>
            <a:off x="2736796" y="405950"/>
            <a:ext cx="1644660" cy="1245429"/>
            <a:chOff x="64154" y="422768"/>
            <a:chExt cx="1644660" cy="1245429"/>
          </a:xfrm>
        </p:grpSpPr>
        <p:pic>
          <p:nvPicPr>
            <p:cNvPr id="21" name="Image 20">
              <a:extLst>
                <a:ext uri="{FF2B5EF4-FFF2-40B4-BE49-F238E27FC236}">
                  <a16:creationId xmlns:a16="http://schemas.microsoft.com/office/drawing/2014/main" id="{1BE7038F-8981-E36A-0038-E6B20C41D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22" name="Rounded Rectangle 30">
              <a:extLst>
                <a:ext uri="{FF2B5EF4-FFF2-40B4-BE49-F238E27FC236}">
                  <a16:creationId xmlns:a16="http://schemas.microsoft.com/office/drawing/2014/main" id="{5407A545-75D8-487E-3219-226BA39CC6A7}"/>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23" name="Rounded Rectangle 30">
              <a:extLst>
                <a:ext uri="{FF2B5EF4-FFF2-40B4-BE49-F238E27FC236}">
                  <a16:creationId xmlns:a16="http://schemas.microsoft.com/office/drawing/2014/main" id="{A122374C-2F1E-97C1-36F9-6CF5BBA6CAC9}"/>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24" name="Rounded Rectangle 30">
              <a:extLst>
                <a:ext uri="{FF2B5EF4-FFF2-40B4-BE49-F238E27FC236}">
                  <a16:creationId xmlns:a16="http://schemas.microsoft.com/office/drawing/2014/main" id="{90D8C63E-E6E9-5C9F-F18C-EA343A57942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87B05E3-C86E-41B1-9836-7961F0A1D64C}"/>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25" name="ZoneTexte 24">
                  <a:extLst>
                    <a:ext uri="{FF2B5EF4-FFF2-40B4-BE49-F238E27FC236}">
                      <a16:creationId xmlns:a16="http://schemas.microsoft.com/office/drawing/2014/main" id="{987B05E3-C86E-41B1-9836-7961F0A1D64C}"/>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8B2C4CB-F1AB-FF3B-73C5-776D69CADEAF}"/>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26" name="ZoneTexte 25">
                  <a:extLst>
                    <a:ext uri="{FF2B5EF4-FFF2-40B4-BE49-F238E27FC236}">
                      <a16:creationId xmlns:a16="http://schemas.microsoft.com/office/drawing/2014/main" id="{28B2C4CB-F1AB-FF3B-73C5-776D69CADEAF}"/>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10"/>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569D846-65D9-A545-1815-15FBDC732C45}"/>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27" name="ZoneTexte 26">
                  <a:extLst>
                    <a:ext uri="{FF2B5EF4-FFF2-40B4-BE49-F238E27FC236}">
                      <a16:creationId xmlns:a16="http://schemas.microsoft.com/office/drawing/2014/main" id="{5569D846-65D9-A545-1815-15FBDC732C45}"/>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11"/>
                  <a:stretch>
                    <a:fillRect/>
                  </a:stretch>
                </a:blipFill>
              </p:spPr>
              <p:txBody>
                <a:bodyPr/>
                <a:lstStyle/>
                <a:p>
                  <a:r>
                    <a:rPr lang="en-GB">
                      <a:noFill/>
                    </a:rPr>
                    <a:t> </a:t>
                  </a:r>
                </a:p>
              </p:txBody>
            </p:sp>
          </mc:Fallback>
        </mc:AlternateContent>
      </p:grpSp>
      <p:sp>
        <p:nvSpPr>
          <p:cNvPr id="28" name="ZoneTexte 1">
            <a:extLst>
              <a:ext uri="{FF2B5EF4-FFF2-40B4-BE49-F238E27FC236}">
                <a16:creationId xmlns:a16="http://schemas.microsoft.com/office/drawing/2014/main" id="{A8FBCCC8-919D-A9D5-6BE4-CD818FA5D14D}"/>
              </a:ext>
            </a:extLst>
          </p:cNvPr>
          <p:cNvSpPr txBox="1"/>
          <p:nvPr/>
        </p:nvSpPr>
        <p:spPr>
          <a:xfrm>
            <a:off x="2678934" y="2828256"/>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06E3C5FD-1579-F2DE-EFD8-54CFC050AD46}"/>
                  </a:ext>
                </a:extLst>
              </p:cNvPr>
              <p:cNvSpPr txBox="1"/>
              <p:nvPr/>
            </p:nvSpPr>
            <p:spPr>
              <a:xfrm>
                <a:off x="2481107" y="1643179"/>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29" name="ZoneTexte 28">
                <a:extLst>
                  <a:ext uri="{FF2B5EF4-FFF2-40B4-BE49-F238E27FC236}">
                    <a16:creationId xmlns:a16="http://schemas.microsoft.com/office/drawing/2014/main" id="{06E3C5FD-1579-F2DE-EFD8-54CFC050AD46}"/>
                  </a:ext>
                </a:extLst>
              </p:cNvPr>
              <p:cNvSpPr txBox="1">
                <a:spLocks noRot="1" noChangeAspect="1" noMove="1" noResize="1" noEditPoints="1" noAdjustHandles="1" noChangeArrowheads="1" noChangeShapeType="1" noTextEdit="1"/>
              </p:cNvSpPr>
              <p:nvPr/>
            </p:nvSpPr>
            <p:spPr>
              <a:xfrm>
                <a:off x="2481107" y="1643179"/>
                <a:ext cx="2156038" cy="557589"/>
              </a:xfrm>
              <a:prstGeom prst="rect">
                <a:avLst/>
              </a:prstGeom>
              <a:blipFill>
                <a:blip r:embed="rId12"/>
                <a:stretch>
                  <a:fillRect/>
                </a:stretch>
              </a:blipFill>
            </p:spPr>
            <p:txBody>
              <a:bodyPr/>
              <a:lstStyle/>
              <a:p>
                <a:r>
                  <a:rPr lang="en-GB">
                    <a:noFill/>
                  </a:rPr>
                  <a:t> </a:t>
                </a:r>
              </a:p>
            </p:txBody>
          </p:sp>
        </mc:Fallback>
      </mc:AlternateContent>
      <p:sp>
        <p:nvSpPr>
          <p:cNvPr id="31" name="Text Box 9">
            <a:extLst>
              <a:ext uri="{FF2B5EF4-FFF2-40B4-BE49-F238E27FC236}">
                <a16:creationId xmlns:a16="http://schemas.microsoft.com/office/drawing/2014/main" id="{33BA505E-9849-762B-B0D7-91E8B84AAE96}"/>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ZoneTexte 3">
                <a:extLst>
                  <a:ext uri="{FF2B5EF4-FFF2-40B4-BE49-F238E27FC236}">
                    <a16:creationId xmlns:a16="http://schemas.microsoft.com/office/drawing/2014/main" id="{C03821BB-DF62-6CBA-A3A8-255E4CE9B5A2}"/>
                  </a:ext>
                </a:extLst>
              </p:cNvPr>
              <p:cNvSpPr txBox="1"/>
              <p:nvPr/>
            </p:nvSpPr>
            <p:spPr>
              <a:xfrm>
                <a:off x="2479859" y="2178563"/>
                <a:ext cx="2148024" cy="5595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𝑞</m:t>
                              </m:r>
                            </m:sub>
                            <m:sup>
                              <m:r>
                                <a:rPr lang="fr-FR" sz="1400" i="1" dirty="0">
                                  <a:latin typeface="Cambria Math" panose="02040503050406030204" pitchFamily="18" charset="0"/>
                                </a:rPr>
                                <m:t>′</m:t>
                              </m:r>
                            </m:sup>
                          </m:sSub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i="1" dirty="0">
                          <a:latin typeface="Cambria Math" panose="02040503050406030204" pitchFamily="18" charset="0"/>
                        </a:rPr>
                        <m:t>=</m:t>
                      </m:r>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r>
                            <a:rPr lang="fr-FR" sz="1400" i="1" dirty="0">
                              <a:latin typeface="Cambria Math" panose="02040503050406030204" pitchFamily="18" charset="0"/>
                            </a:rPr>
                            <m:t>−</m:t>
                          </m:r>
                          <m:sSup>
                            <m:sSupPr>
                              <m:ctrlPr>
                                <a:rPr lang="fr-FR" sz="1400" i="1" dirty="0">
                                  <a:latin typeface="Cambria Math" panose="02040503050406030204" pitchFamily="18" charset="0"/>
                                </a:rPr>
                              </m:ctrlPr>
                            </m:sSupPr>
                            <m:e>
                              <m:r>
                                <a:rPr lang="fr-FR" sz="1400" i="1" dirty="0">
                                  <a:latin typeface="Cambria Math" panose="02040503050406030204" pitchFamily="18" charset="0"/>
                                </a:rPr>
                                <m:t>𝐹</m:t>
                              </m:r>
                            </m:e>
                            <m:sup>
                              <m:r>
                                <a:rPr lang="fr-FR" sz="1400" i="1" dirty="0">
                                  <a:latin typeface="Cambria Math" panose="02040503050406030204" pitchFamily="18" charset="0"/>
                                </a:rPr>
                                <m:t>′</m:t>
                              </m:r>
                            </m:sup>
                          </m:s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p:sp>
            <p:nvSpPr>
              <p:cNvPr id="4" name="ZoneTexte 3">
                <a:extLst>
                  <a:ext uri="{FF2B5EF4-FFF2-40B4-BE49-F238E27FC236}">
                    <a16:creationId xmlns:a16="http://schemas.microsoft.com/office/drawing/2014/main" id="{C03821BB-DF62-6CBA-A3A8-255E4CE9B5A2}"/>
                  </a:ext>
                </a:extLst>
              </p:cNvPr>
              <p:cNvSpPr txBox="1">
                <a:spLocks noRot="1" noChangeAspect="1" noMove="1" noResize="1" noEditPoints="1" noAdjustHandles="1" noChangeArrowheads="1" noChangeShapeType="1" noTextEdit="1"/>
              </p:cNvSpPr>
              <p:nvPr/>
            </p:nvSpPr>
            <p:spPr>
              <a:xfrm>
                <a:off x="2479859" y="2178563"/>
                <a:ext cx="2148024" cy="559577"/>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02003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inside</a:t>
            </a:r>
            <a:r>
              <a:rPr lang="fr-FR" dirty="0"/>
              <a:t> the machine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13</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4CB114D-F2B2-0137-A516-E2A5F099A934}"/>
                  </a:ext>
                </a:extLst>
              </p:cNvPr>
              <p:cNvSpPr txBox="1"/>
              <p:nvPr/>
            </p:nvSpPr>
            <p:spPr>
              <a:xfrm>
                <a:off x="200408" y="1711045"/>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5" name="ZoneTexte 4">
                <a:extLst>
                  <a:ext uri="{FF2B5EF4-FFF2-40B4-BE49-F238E27FC236}">
                    <a16:creationId xmlns:a16="http://schemas.microsoft.com/office/drawing/2014/main" id="{E4CB114D-F2B2-0137-A516-E2A5F099A934}"/>
                  </a:ext>
                </a:extLst>
              </p:cNvPr>
              <p:cNvSpPr txBox="1">
                <a:spLocks noRot="1" noChangeAspect="1" noMove="1" noResize="1" noEditPoints="1" noAdjustHandles="1" noChangeArrowheads="1" noChangeShapeType="1" noTextEdit="1"/>
              </p:cNvSpPr>
              <p:nvPr/>
            </p:nvSpPr>
            <p:spPr>
              <a:xfrm>
                <a:off x="200408" y="1711045"/>
                <a:ext cx="1933991" cy="530851"/>
              </a:xfrm>
              <a:prstGeom prst="rect">
                <a:avLst/>
              </a:prstGeom>
              <a:blipFill>
                <a:blip r:embed="rId2"/>
                <a:stretch>
                  <a:fillRect/>
                </a:stretch>
              </a:blipFill>
            </p:spPr>
            <p:txBody>
              <a:bodyPr/>
              <a:lstStyle/>
              <a:p>
                <a:r>
                  <a:rPr lang="en-GB">
                    <a:noFill/>
                  </a:rPr>
                  <a:t> </a:t>
                </a:r>
              </a:p>
            </p:txBody>
          </p:sp>
        </mc:Fallback>
      </mc:AlternateContent>
      <p:grpSp>
        <p:nvGrpSpPr>
          <p:cNvPr id="6" name="Groupe 5">
            <a:extLst>
              <a:ext uri="{FF2B5EF4-FFF2-40B4-BE49-F238E27FC236}">
                <a16:creationId xmlns:a16="http://schemas.microsoft.com/office/drawing/2014/main" id="{8B67585E-496A-9348-B725-D4E1ADC06C96}"/>
              </a:ext>
            </a:extLst>
          </p:cNvPr>
          <p:cNvGrpSpPr/>
          <p:nvPr/>
        </p:nvGrpSpPr>
        <p:grpSpPr>
          <a:xfrm>
            <a:off x="215457" y="470779"/>
            <a:ext cx="1644660" cy="1245429"/>
            <a:chOff x="64154" y="422768"/>
            <a:chExt cx="1644660" cy="1245429"/>
          </a:xfrm>
        </p:grpSpPr>
        <p:pic>
          <p:nvPicPr>
            <p:cNvPr id="7" name="Image 6">
              <a:extLst>
                <a:ext uri="{FF2B5EF4-FFF2-40B4-BE49-F238E27FC236}">
                  <a16:creationId xmlns:a16="http://schemas.microsoft.com/office/drawing/2014/main" id="{A187FF47-FCE8-DFC8-5D37-5B31565C4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8" name="Rounded Rectangle 30">
              <a:extLst>
                <a:ext uri="{FF2B5EF4-FFF2-40B4-BE49-F238E27FC236}">
                  <a16:creationId xmlns:a16="http://schemas.microsoft.com/office/drawing/2014/main" id="{181B551C-43BD-EE21-B374-CE54A8B45D92}"/>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9" name="Rounded Rectangle 30">
              <a:extLst>
                <a:ext uri="{FF2B5EF4-FFF2-40B4-BE49-F238E27FC236}">
                  <a16:creationId xmlns:a16="http://schemas.microsoft.com/office/drawing/2014/main" id="{26AA3FD0-C7D8-07D5-C48A-A8A1744D540F}"/>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10" name="Rounded Rectangle 30">
              <a:extLst>
                <a:ext uri="{FF2B5EF4-FFF2-40B4-BE49-F238E27FC236}">
                  <a16:creationId xmlns:a16="http://schemas.microsoft.com/office/drawing/2014/main" id="{20C63E9D-F5EA-FDEE-3464-ABAF2488444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02738CC-2CA2-C55E-92F6-7AF850D2F7CA}"/>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1" name="ZoneTexte 10">
                  <a:extLst>
                    <a:ext uri="{FF2B5EF4-FFF2-40B4-BE49-F238E27FC236}">
                      <a16:creationId xmlns:a16="http://schemas.microsoft.com/office/drawing/2014/main" id="{602738CC-2CA2-C55E-92F6-7AF850D2F7CA}"/>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CC39223-91C4-2C9E-AC2B-7695FCDD34A2}"/>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2" name="ZoneTexte 11">
                  <a:extLst>
                    <a:ext uri="{FF2B5EF4-FFF2-40B4-BE49-F238E27FC236}">
                      <a16:creationId xmlns:a16="http://schemas.microsoft.com/office/drawing/2014/main" id="{3CC39223-91C4-2C9E-AC2B-7695FCDD34A2}"/>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8008B91-22FD-C32F-4C1B-881F04B9EB54}"/>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3" name="ZoneTexte 12">
                  <a:extLst>
                    <a:ext uri="{FF2B5EF4-FFF2-40B4-BE49-F238E27FC236}">
                      <a16:creationId xmlns:a16="http://schemas.microsoft.com/office/drawing/2014/main" id="{F8008B91-22FD-C32F-4C1B-881F04B9EB54}"/>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22A18978-A4C8-D23F-FFA1-EDF8FB91AD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C6669267-9EC7-8CF7-72C9-0E78A7B430A7}"/>
                  </a:ext>
                </a:extLst>
              </p:cNvPr>
              <p:cNvSpPr txBox="1"/>
              <p:nvPr/>
            </p:nvSpPr>
            <p:spPr>
              <a:xfrm>
                <a:off x="2892501" y="3399802"/>
                <a:ext cx="1718997" cy="16326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𝐹</m:t>
                          </m:r>
                        </m:e>
                        <m:sub>
                          <m:r>
                            <a:rPr lang="fr-FR" b="0" i="1" smtClean="0">
                              <a:latin typeface="Cambria Math" panose="02040503050406030204" pitchFamily="18" charset="0"/>
                            </a:rPr>
                            <m:t>0</m:t>
                          </m:r>
                        </m:sub>
                      </m:sSub>
                      <m:r>
                        <a:rPr lang="fr-FR" b="0" i="1" smtClean="0">
                          <a:latin typeface="Cambria Math" panose="02040503050406030204" pitchFamily="18" charset="0"/>
                        </a:rPr>
                        <m:t>=</m:t>
                      </m:r>
                      <m:r>
                        <a:rPr lang="fr-FR" b="0" i="1" smtClean="0">
                          <a:latin typeface="Cambria Math" panose="02040503050406030204" pitchFamily="18" charset="0"/>
                        </a:rPr>
                        <m:t>𝑏</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𝑎</m:t>
                          </m:r>
                          <m:r>
                            <a:rPr lang="fr-FR" b="0" i="1" smtClean="0">
                              <a:latin typeface="Cambria Math" panose="02040503050406030204" pitchFamily="18" charset="0"/>
                            </a:rPr>
                            <m:t>+</m:t>
                          </m:r>
                          <m:r>
                            <a:rPr lang="fr-FR" b="0" i="1" smtClean="0">
                              <a:latin typeface="Cambria Math" panose="02040503050406030204" pitchFamily="18" charset="0"/>
                            </a:rPr>
                            <m:t>𝑐</m:t>
                          </m:r>
                        </m:num>
                        <m:den>
                          <m:r>
                            <a:rPr lang="fr-FR" b="0" i="1" smtClean="0">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𝑒</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𝑑</m:t>
                          </m:r>
                          <m:r>
                            <a:rPr lang="fr-FR" b="0" i="1" smtClean="0">
                              <a:latin typeface="Cambria Math" panose="02040503050406030204" pitchFamily="18" charset="0"/>
                            </a:rPr>
                            <m:t>+</m:t>
                          </m:r>
                          <m:r>
                            <a:rPr lang="fr-FR" b="0" i="1" smtClean="0">
                              <a:latin typeface="Cambria Math" panose="02040503050406030204" pitchFamily="18" charset="0"/>
                            </a:rPr>
                            <m:t>𝑓</m:t>
                          </m:r>
                        </m:num>
                        <m:den>
                          <m:r>
                            <a:rPr lang="fr-FR" b="0" i="1" smtClean="0">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h</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𝑔</m:t>
                          </m:r>
                          <m:r>
                            <a:rPr lang="fr-FR" b="0" i="1" smtClean="0">
                              <a:latin typeface="Cambria Math" panose="02040503050406030204" pitchFamily="18" charset="0"/>
                            </a:rPr>
                            <m:t>+</m:t>
                          </m:r>
                          <m:r>
                            <a:rPr lang="fr-FR" b="0" i="1" smtClean="0">
                              <a:latin typeface="Cambria Math" panose="02040503050406030204" pitchFamily="18" charset="0"/>
                            </a:rPr>
                            <m:t>𝑖</m:t>
                          </m:r>
                        </m:num>
                        <m:den>
                          <m:r>
                            <a:rPr lang="fr-FR" b="0" i="1" smtClean="0">
                              <a:latin typeface="Cambria Math" panose="02040503050406030204" pitchFamily="18" charset="0"/>
                            </a:rPr>
                            <m:t>2</m:t>
                          </m:r>
                        </m:den>
                      </m:f>
                    </m:oMath>
                  </m:oMathPara>
                </a14:m>
                <a:endParaRPr lang="en-US" dirty="0"/>
              </a:p>
            </p:txBody>
          </p:sp>
        </mc:Choice>
        <mc:Fallback xmlns="">
          <p:sp>
            <p:nvSpPr>
              <p:cNvPr id="18" name="ZoneTexte 17">
                <a:extLst>
                  <a:ext uri="{FF2B5EF4-FFF2-40B4-BE49-F238E27FC236}">
                    <a16:creationId xmlns:a16="http://schemas.microsoft.com/office/drawing/2014/main" id="{C6669267-9EC7-8CF7-72C9-0E78A7B430A7}"/>
                  </a:ext>
                </a:extLst>
              </p:cNvPr>
              <p:cNvSpPr txBox="1">
                <a:spLocks noRot="1" noChangeAspect="1" noMove="1" noResize="1" noEditPoints="1" noAdjustHandles="1" noChangeArrowheads="1" noChangeShapeType="1" noTextEdit="1"/>
              </p:cNvSpPr>
              <p:nvPr/>
            </p:nvSpPr>
            <p:spPr>
              <a:xfrm>
                <a:off x="2892501" y="3399802"/>
                <a:ext cx="1718997" cy="1632691"/>
              </a:xfrm>
              <a:prstGeom prst="rect">
                <a:avLst/>
              </a:prstGeom>
              <a:blipFill>
                <a:blip r:embed="rId8"/>
                <a:stretch>
                  <a:fillRect/>
                </a:stretch>
              </a:blipFill>
            </p:spPr>
            <p:txBody>
              <a:bodyPr/>
              <a:lstStyle/>
              <a:p>
                <a:r>
                  <a:rPr lang="en-GB">
                    <a:noFill/>
                  </a:rPr>
                  <a:t> </a:t>
                </a:r>
              </a:p>
            </p:txBody>
          </p:sp>
        </mc:Fallback>
      </mc:AlternateContent>
      <p:sp>
        <p:nvSpPr>
          <p:cNvPr id="19" name="ZoneTexte 1">
            <a:extLst>
              <a:ext uri="{FF2B5EF4-FFF2-40B4-BE49-F238E27FC236}">
                <a16:creationId xmlns:a16="http://schemas.microsoft.com/office/drawing/2014/main" id="{212A4F92-5459-F74A-F66E-00CA42F714F5}"/>
              </a:ext>
            </a:extLst>
          </p:cNvPr>
          <p:cNvSpPr txBox="1"/>
          <p:nvPr/>
        </p:nvSpPr>
        <p:spPr>
          <a:xfrm>
            <a:off x="287210" y="229038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grpSp>
        <p:nvGrpSpPr>
          <p:cNvPr id="20" name="Groupe 19">
            <a:extLst>
              <a:ext uri="{FF2B5EF4-FFF2-40B4-BE49-F238E27FC236}">
                <a16:creationId xmlns:a16="http://schemas.microsoft.com/office/drawing/2014/main" id="{1419A107-2D90-7DB7-34F3-AFD54625A9EF}"/>
              </a:ext>
            </a:extLst>
          </p:cNvPr>
          <p:cNvGrpSpPr/>
          <p:nvPr/>
        </p:nvGrpSpPr>
        <p:grpSpPr>
          <a:xfrm>
            <a:off x="2736796" y="405950"/>
            <a:ext cx="1644660" cy="1245429"/>
            <a:chOff x="64154" y="422768"/>
            <a:chExt cx="1644660" cy="1245429"/>
          </a:xfrm>
        </p:grpSpPr>
        <p:pic>
          <p:nvPicPr>
            <p:cNvPr id="21" name="Image 20">
              <a:extLst>
                <a:ext uri="{FF2B5EF4-FFF2-40B4-BE49-F238E27FC236}">
                  <a16:creationId xmlns:a16="http://schemas.microsoft.com/office/drawing/2014/main" id="{1BE7038F-8981-E36A-0038-E6B20C41D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22" name="Rounded Rectangle 30">
              <a:extLst>
                <a:ext uri="{FF2B5EF4-FFF2-40B4-BE49-F238E27FC236}">
                  <a16:creationId xmlns:a16="http://schemas.microsoft.com/office/drawing/2014/main" id="{5407A545-75D8-487E-3219-226BA39CC6A7}"/>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23" name="Rounded Rectangle 30">
              <a:extLst>
                <a:ext uri="{FF2B5EF4-FFF2-40B4-BE49-F238E27FC236}">
                  <a16:creationId xmlns:a16="http://schemas.microsoft.com/office/drawing/2014/main" id="{A122374C-2F1E-97C1-36F9-6CF5BBA6CAC9}"/>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24" name="Rounded Rectangle 30">
              <a:extLst>
                <a:ext uri="{FF2B5EF4-FFF2-40B4-BE49-F238E27FC236}">
                  <a16:creationId xmlns:a16="http://schemas.microsoft.com/office/drawing/2014/main" id="{90D8C63E-E6E9-5C9F-F18C-EA343A57942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87B05E3-C86E-41B1-9836-7961F0A1D64C}"/>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25" name="ZoneTexte 24">
                  <a:extLst>
                    <a:ext uri="{FF2B5EF4-FFF2-40B4-BE49-F238E27FC236}">
                      <a16:creationId xmlns:a16="http://schemas.microsoft.com/office/drawing/2014/main" id="{987B05E3-C86E-41B1-9836-7961F0A1D64C}"/>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8B2C4CB-F1AB-FF3B-73C5-776D69CADEAF}"/>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26" name="ZoneTexte 25">
                  <a:extLst>
                    <a:ext uri="{FF2B5EF4-FFF2-40B4-BE49-F238E27FC236}">
                      <a16:creationId xmlns:a16="http://schemas.microsoft.com/office/drawing/2014/main" id="{28B2C4CB-F1AB-FF3B-73C5-776D69CADEAF}"/>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10"/>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569D846-65D9-A545-1815-15FBDC732C45}"/>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27" name="ZoneTexte 26">
                  <a:extLst>
                    <a:ext uri="{FF2B5EF4-FFF2-40B4-BE49-F238E27FC236}">
                      <a16:creationId xmlns:a16="http://schemas.microsoft.com/office/drawing/2014/main" id="{5569D846-65D9-A545-1815-15FBDC732C45}"/>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11"/>
                  <a:stretch>
                    <a:fillRect/>
                  </a:stretch>
                </a:blipFill>
              </p:spPr>
              <p:txBody>
                <a:bodyPr/>
                <a:lstStyle/>
                <a:p>
                  <a:r>
                    <a:rPr lang="en-GB">
                      <a:noFill/>
                    </a:rPr>
                    <a:t> </a:t>
                  </a:r>
                </a:p>
              </p:txBody>
            </p:sp>
          </mc:Fallback>
        </mc:AlternateContent>
      </p:grpSp>
      <p:sp>
        <p:nvSpPr>
          <p:cNvPr id="28" name="ZoneTexte 1">
            <a:extLst>
              <a:ext uri="{FF2B5EF4-FFF2-40B4-BE49-F238E27FC236}">
                <a16:creationId xmlns:a16="http://schemas.microsoft.com/office/drawing/2014/main" id="{A8FBCCC8-919D-A9D5-6BE4-CD818FA5D14D}"/>
              </a:ext>
            </a:extLst>
          </p:cNvPr>
          <p:cNvSpPr txBox="1"/>
          <p:nvPr/>
        </p:nvSpPr>
        <p:spPr>
          <a:xfrm>
            <a:off x="2678934" y="2828256"/>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06E3C5FD-1579-F2DE-EFD8-54CFC050AD46}"/>
                  </a:ext>
                </a:extLst>
              </p:cNvPr>
              <p:cNvSpPr txBox="1"/>
              <p:nvPr/>
            </p:nvSpPr>
            <p:spPr>
              <a:xfrm>
                <a:off x="2481107" y="1643179"/>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29" name="ZoneTexte 28">
                <a:extLst>
                  <a:ext uri="{FF2B5EF4-FFF2-40B4-BE49-F238E27FC236}">
                    <a16:creationId xmlns:a16="http://schemas.microsoft.com/office/drawing/2014/main" id="{06E3C5FD-1579-F2DE-EFD8-54CFC050AD46}"/>
                  </a:ext>
                </a:extLst>
              </p:cNvPr>
              <p:cNvSpPr txBox="1">
                <a:spLocks noRot="1" noChangeAspect="1" noMove="1" noResize="1" noEditPoints="1" noAdjustHandles="1" noChangeArrowheads="1" noChangeShapeType="1" noTextEdit="1"/>
              </p:cNvSpPr>
              <p:nvPr/>
            </p:nvSpPr>
            <p:spPr>
              <a:xfrm>
                <a:off x="2481107" y="1643179"/>
                <a:ext cx="2156038" cy="557589"/>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0" name="ZoneTexte 29">
                <a:extLst>
                  <a:ext uri="{FF2B5EF4-FFF2-40B4-BE49-F238E27FC236}">
                    <a16:creationId xmlns:a16="http://schemas.microsoft.com/office/drawing/2014/main" id="{FE55F8D6-0913-F34B-5113-807F10D7CCFD}"/>
                  </a:ext>
                </a:extLst>
              </p:cNvPr>
              <p:cNvSpPr txBox="1"/>
              <p:nvPr/>
            </p:nvSpPr>
            <p:spPr>
              <a:xfrm>
                <a:off x="2479859" y="2178563"/>
                <a:ext cx="2148024" cy="5595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𝑞</m:t>
                              </m:r>
                            </m:sub>
                            <m:sup>
                              <m:r>
                                <a:rPr lang="fr-FR" sz="1400" i="1" dirty="0">
                                  <a:latin typeface="Cambria Math" panose="02040503050406030204" pitchFamily="18" charset="0"/>
                                </a:rPr>
                                <m:t>′</m:t>
                              </m:r>
                            </m:sup>
                          </m:sSub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i="1" dirty="0">
                          <a:latin typeface="Cambria Math" panose="02040503050406030204" pitchFamily="18" charset="0"/>
                        </a:rPr>
                        <m:t>=</m:t>
                      </m:r>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r>
                            <a:rPr lang="fr-FR" sz="1400" i="1" dirty="0">
                              <a:latin typeface="Cambria Math" panose="02040503050406030204" pitchFamily="18" charset="0"/>
                            </a:rPr>
                            <m:t>−</m:t>
                          </m:r>
                          <m:sSup>
                            <m:sSupPr>
                              <m:ctrlPr>
                                <a:rPr lang="fr-FR" sz="1400" i="1" dirty="0">
                                  <a:latin typeface="Cambria Math" panose="02040503050406030204" pitchFamily="18" charset="0"/>
                                </a:rPr>
                              </m:ctrlPr>
                            </m:sSupPr>
                            <m:e>
                              <m:r>
                                <a:rPr lang="fr-FR" sz="1400" i="1" dirty="0">
                                  <a:latin typeface="Cambria Math" panose="02040503050406030204" pitchFamily="18" charset="0"/>
                                </a:rPr>
                                <m:t>𝐹</m:t>
                              </m:r>
                            </m:e>
                            <m:sup>
                              <m:r>
                                <a:rPr lang="fr-FR" sz="1400" i="1" dirty="0">
                                  <a:latin typeface="Cambria Math" panose="02040503050406030204" pitchFamily="18" charset="0"/>
                                </a:rPr>
                                <m:t>′</m:t>
                              </m:r>
                            </m:sup>
                          </m:s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p:sp>
            <p:nvSpPr>
              <p:cNvPr id="30" name="ZoneTexte 29">
                <a:extLst>
                  <a:ext uri="{FF2B5EF4-FFF2-40B4-BE49-F238E27FC236}">
                    <a16:creationId xmlns:a16="http://schemas.microsoft.com/office/drawing/2014/main" id="{FE55F8D6-0913-F34B-5113-807F10D7CCFD}"/>
                  </a:ext>
                </a:extLst>
              </p:cNvPr>
              <p:cNvSpPr txBox="1">
                <a:spLocks noRot="1" noChangeAspect="1" noMove="1" noResize="1" noEditPoints="1" noAdjustHandles="1" noChangeArrowheads="1" noChangeShapeType="1" noTextEdit="1"/>
              </p:cNvSpPr>
              <p:nvPr/>
            </p:nvSpPr>
            <p:spPr>
              <a:xfrm>
                <a:off x="2479859" y="2178563"/>
                <a:ext cx="2148024" cy="559577"/>
              </a:xfrm>
              <a:prstGeom prst="rect">
                <a:avLst/>
              </a:prstGeom>
              <a:blipFill>
                <a:blip r:embed="rId13"/>
                <a:stretch>
                  <a:fillRect/>
                </a:stretch>
              </a:blipFill>
            </p:spPr>
            <p:txBody>
              <a:bodyPr/>
              <a:lstStyle/>
              <a:p>
                <a:r>
                  <a:rPr lang="en-US">
                    <a:noFill/>
                  </a:rPr>
                  <a:t> </a:t>
                </a:r>
              </a:p>
            </p:txBody>
          </p:sp>
        </mc:Fallback>
      </mc:AlternateContent>
      <p:sp>
        <p:nvSpPr>
          <p:cNvPr id="31" name="Text Box 9">
            <a:extLst>
              <a:ext uri="{FF2B5EF4-FFF2-40B4-BE49-F238E27FC236}">
                <a16:creationId xmlns:a16="http://schemas.microsoft.com/office/drawing/2014/main" id="{33BA505E-9849-762B-B0D7-91E8B84AAE96}"/>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372596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9E2B05-D723-3282-8138-3EAE1CA4622B}"/>
              </a:ext>
            </a:extLst>
          </p:cNvPr>
          <p:cNvSpPr>
            <a:spLocks noGrp="1"/>
          </p:cNvSpPr>
          <p:nvPr>
            <p:ph type="title"/>
          </p:nvPr>
        </p:nvSpPr>
        <p:spPr/>
        <p:txBody>
          <a:bodyPr/>
          <a:lstStyle/>
          <a:p>
            <a:r>
              <a:rPr lang="fr-FR" dirty="0"/>
              <a:t>Protocol for </a:t>
            </a:r>
            <a:r>
              <a:rPr lang="fr-FR" dirty="0" err="1"/>
              <a:t>quenching</a:t>
            </a:r>
            <a:r>
              <a:rPr lang="fr-FR" dirty="0"/>
              <a:t> </a:t>
            </a:r>
            <a:r>
              <a:rPr lang="fr-FR" dirty="0" err="1"/>
              <a:t>analysing</a:t>
            </a:r>
            <a:endParaRPr lang="en-GB" dirty="0"/>
          </a:p>
        </p:txBody>
      </p:sp>
      <p:sp>
        <p:nvSpPr>
          <p:cNvPr id="3" name="Espace réservé du numéro de diapositive 2">
            <a:extLst>
              <a:ext uri="{FF2B5EF4-FFF2-40B4-BE49-F238E27FC236}">
                <a16:creationId xmlns:a16="http://schemas.microsoft.com/office/drawing/2014/main" id="{031252B8-9D94-758F-FC36-A885C41B17C0}"/>
              </a:ext>
            </a:extLst>
          </p:cNvPr>
          <p:cNvSpPr>
            <a:spLocks noGrp="1"/>
          </p:cNvSpPr>
          <p:nvPr>
            <p:ph type="sldNum" sz="quarter" idx="12"/>
          </p:nvPr>
        </p:nvSpPr>
        <p:spPr/>
        <p:txBody>
          <a:bodyPr/>
          <a:lstStyle/>
          <a:p>
            <a:fld id="{E9791B11-EC80-479C-9EB2-AD35BA691394}" type="slidenum">
              <a:rPr lang="fr-FR" smtClean="0"/>
              <a:pPr/>
              <a:t>14</a:t>
            </a:fld>
            <a:endParaRPr lang="fr-FR" dirty="0"/>
          </a:p>
        </p:txBody>
      </p:sp>
      <p:pic>
        <p:nvPicPr>
          <p:cNvPr id="5" name="Image 4">
            <a:extLst>
              <a:ext uri="{FF2B5EF4-FFF2-40B4-BE49-F238E27FC236}">
                <a16:creationId xmlns:a16="http://schemas.microsoft.com/office/drawing/2014/main" id="{4952F930-10F5-DAE6-066C-3B38CB70EDDF}"/>
              </a:ext>
            </a:extLst>
          </p:cNvPr>
          <p:cNvPicPr>
            <a:picLocks noChangeAspect="1"/>
          </p:cNvPicPr>
          <p:nvPr/>
        </p:nvPicPr>
        <p:blipFill>
          <a:blip r:embed="rId2">
            <a:extLst>
              <a:ext uri="{28A0092B-C50C-407E-A947-70E740481C1C}">
                <a14:useLocalDpi xmlns:a14="http://schemas.microsoft.com/office/drawing/2010/main" val="0"/>
              </a:ext>
            </a:extLst>
          </a:blip>
          <a:srcRect l="2348" r="2582"/>
          <a:stretch/>
        </p:blipFill>
        <p:spPr>
          <a:xfrm>
            <a:off x="0" y="627666"/>
            <a:ext cx="5328519" cy="3710732"/>
          </a:xfrm>
          <a:prstGeom prst="rect">
            <a:avLst/>
          </a:prstGeom>
        </p:spPr>
      </p:pic>
      <p:pic>
        <p:nvPicPr>
          <p:cNvPr id="7" name="Image 6">
            <a:extLst>
              <a:ext uri="{FF2B5EF4-FFF2-40B4-BE49-F238E27FC236}">
                <a16:creationId xmlns:a16="http://schemas.microsoft.com/office/drawing/2014/main" id="{F7EDCA79-2025-0838-3357-80B507B83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8519" y="4295651"/>
            <a:ext cx="3802710" cy="746825"/>
          </a:xfrm>
          <a:prstGeom prst="rect">
            <a:avLst/>
          </a:prstGeom>
        </p:spPr>
      </p:pic>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D6ADA7A0-826C-D58F-DD56-BFCCFA15A3E5}"/>
                  </a:ext>
                </a:extLst>
              </p:cNvPr>
              <p:cNvSpPr txBox="1"/>
              <p:nvPr/>
            </p:nvSpPr>
            <p:spPr>
              <a:xfrm>
                <a:off x="6237231" y="1899800"/>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8" name="ZoneTexte 7">
                <a:extLst>
                  <a:ext uri="{FF2B5EF4-FFF2-40B4-BE49-F238E27FC236}">
                    <a16:creationId xmlns:a16="http://schemas.microsoft.com/office/drawing/2014/main" id="{D6ADA7A0-826C-D58F-DD56-BFCCFA15A3E5}"/>
                  </a:ext>
                </a:extLst>
              </p:cNvPr>
              <p:cNvSpPr txBox="1">
                <a:spLocks noRot="1" noChangeAspect="1" noMove="1" noResize="1" noEditPoints="1" noAdjustHandles="1" noChangeArrowheads="1" noChangeShapeType="1" noTextEdit="1"/>
              </p:cNvSpPr>
              <p:nvPr/>
            </p:nvSpPr>
            <p:spPr>
              <a:xfrm>
                <a:off x="6237231" y="1899800"/>
                <a:ext cx="1933991" cy="53085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A52B6F14-9FEA-7110-73EE-B3B0CC373FC0}"/>
                  </a:ext>
                </a:extLst>
              </p:cNvPr>
              <p:cNvSpPr txBox="1"/>
              <p:nvPr/>
            </p:nvSpPr>
            <p:spPr>
              <a:xfrm>
                <a:off x="6126207" y="2464874"/>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9" name="ZoneTexte 8">
                <a:extLst>
                  <a:ext uri="{FF2B5EF4-FFF2-40B4-BE49-F238E27FC236}">
                    <a16:creationId xmlns:a16="http://schemas.microsoft.com/office/drawing/2014/main" id="{A52B6F14-9FEA-7110-73EE-B3B0CC373FC0}"/>
                  </a:ext>
                </a:extLst>
              </p:cNvPr>
              <p:cNvSpPr txBox="1">
                <a:spLocks noRot="1" noChangeAspect="1" noMove="1" noResize="1" noEditPoints="1" noAdjustHandles="1" noChangeArrowheads="1" noChangeShapeType="1" noTextEdit="1"/>
              </p:cNvSpPr>
              <p:nvPr/>
            </p:nvSpPr>
            <p:spPr>
              <a:xfrm>
                <a:off x="6126207" y="2464874"/>
                <a:ext cx="2156038" cy="55758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6CBCB11-BAD8-2489-84B3-61E37877F91F}"/>
                  </a:ext>
                </a:extLst>
              </p:cNvPr>
              <p:cNvSpPr txBox="1"/>
              <p:nvPr/>
            </p:nvSpPr>
            <p:spPr>
              <a:xfrm>
                <a:off x="6151855" y="3086385"/>
                <a:ext cx="2148024" cy="5595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𝑞</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i="1" dirty="0">
                                  <a:latin typeface="Cambria Math" panose="02040503050406030204" pitchFamily="18" charset="0"/>
                                </a:rPr>
                                <m:t>′</m:t>
                              </m:r>
                            </m:sup>
                          </m:sSubSup>
                          <m:r>
                            <a:rPr lang="fr-FR" sz="1400" b="0" i="1" dirty="0" smtClean="0">
                              <a:latin typeface="Cambria Math" panose="02040503050406030204" pitchFamily="18" charset="0"/>
                            </a:rPr>
                            <m:t>−</m:t>
                          </m:r>
                          <m:sSup>
                            <m:sSupPr>
                              <m:ctrlPr>
                                <a:rPr lang="fr-FR" sz="1400" b="0" i="1" dirty="0" smtClean="0">
                                  <a:latin typeface="Cambria Math" panose="02040503050406030204" pitchFamily="18" charset="0"/>
                                </a:rPr>
                              </m:ctrlPr>
                            </m:sSupPr>
                            <m:e>
                              <m:r>
                                <a:rPr lang="fr-FR" sz="1400" b="0" i="1" dirty="0" smtClean="0">
                                  <a:latin typeface="Cambria Math" panose="02040503050406030204" pitchFamily="18" charset="0"/>
                                </a:rPr>
                                <m:t>𝐹</m:t>
                              </m:r>
                            </m:e>
                            <m:sup>
                              <m:r>
                                <a:rPr lang="fr-FR" sz="1400" b="0" i="1" dirty="0" smtClean="0">
                                  <a:latin typeface="Cambria Math" panose="02040503050406030204" pitchFamily="18" charset="0"/>
                                </a:rPr>
                                <m:t>′</m:t>
                              </m:r>
                            </m:sup>
                          </m:s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10" name="ZoneTexte 9">
                <a:extLst>
                  <a:ext uri="{FF2B5EF4-FFF2-40B4-BE49-F238E27FC236}">
                    <a16:creationId xmlns:a16="http://schemas.microsoft.com/office/drawing/2014/main" id="{06CBCB11-BAD8-2489-84B3-61E37877F91F}"/>
                  </a:ext>
                </a:extLst>
              </p:cNvPr>
              <p:cNvSpPr txBox="1">
                <a:spLocks noRot="1" noChangeAspect="1" noMove="1" noResize="1" noEditPoints="1" noAdjustHandles="1" noChangeArrowheads="1" noChangeShapeType="1" noTextEdit="1"/>
              </p:cNvSpPr>
              <p:nvPr/>
            </p:nvSpPr>
            <p:spPr>
              <a:xfrm>
                <a:off x="6151855" y="3086385"/>
                <a:ext cx="2148024" cy="559577"/>
              </a:xfrm>
              <a:prstGeom prst="rect">
                <a:avLst/>
              </a:prstGeom>
              <a:blipFill>
                <a:blip r:embed="rId6"/>
                <a:stretch>
                  <a:fillRect/>
                </a:stretch>
              </a:blipFill>
            </p:spPr>
            <p:txBody>
              <a:bodyPr/>
              <a:lstStyle/>
              <a:p>
                <a:r>
                  <a:rPr lang="en-US">
                    <a:noFill/>
                  </a:rPr>
                  <a:t> </a:t>
                </a:r>
              </a:p>
            </p:txBody>
          </p:sp>
        </mc:Fallback>
      </mc:AlternateContent>
      <p:sp>
        <p:nvSpPr>
          <p:cNvPr id="4" name="Text Box 9">
            <a:extLst>
              <a:ext uri="{FF2B5EF4-FFF2-40B4-BE49-F238E27FC236}">
                <a16:creationId xmlns:a16="http://schemas.microsoft.com/office/drawing/2014/main" id="{CAD6DC3C-F993-76EC-784B-AEDAB5762CE3}"/>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824868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60497-348D-FDF2-4764-9DFE4E7B3B5E}"/>
              </a:ext>
            </a:extLst>
          </p:cNvPr>
          <p:cNvSpPr>
            <a:spLocks noGrp="1"/>
          </p:cNvSpPr>
          <p:nvPr>
            <p:ph type="title"/>
          </p:nvPr>
        </p:nvSpPr>
        <p:spPr/>
        <p:txBody>
          <a:bodyPr/>
          <a:lstStyle/>
          <a:p>
            <a:r>
              <a:rPr lang="fr-FR" dirty="0" err="1"/>
              <a:t>Response</a:t>
            </a:r>
            <a:r>
              <a:rPr lang="fr-FR" dirty="0"/>
              <a:t> of </a:t>
            </a:r>
            <a:r>
              <a:rPr lang="fr-FR" dirty="0" err="1"/>
              <a:t>photosystem</a:t>
            </a:r>
            <a:r>
              <a:rPr lang="fr-FR" dirty="0"/>
              <a:t> II</a:t>
            </a:r>
            <a:endParaRPr lang="en-GB" dirty="0"/>
          </a:p>
        </p:txBody>
      </p:sp>
      <p:sp>
        <p:nvSpPr>
          <p:cNvPr id="3" name="Espace réservé du numéro de diapositive 2">
            <a:extLst>
              <a:ext uri="{FF2B5EF4-FFF2-40B4-BE49-F238E27FC236}">
                <a16:creationId xmlns:a16="http://schemas.microsoft.com/office/drawing/2014/main" id="{1CFD4976-351C-5125-EBA4-9862C5B6E2E3}"/>
              </a:ext>
            </a:extLst>
          </p:cNvPr>
          <p:cNvSpPr>
            <a:spLocks noGrp="1"/>
          </p:cNvSpPr>
          <p:nvPr>
            <p:ph type="sldNum" sz="quarter" idx="12"/>
          </p:nvPr>
        </p:nvSpPr>
        <p:spPr/>
        <p:txBody>
          <a:bodyPr/>
          <a:lstStyle/>
          <a:p>
            <a:fld id="{E9791B11-EC80-479C-9EB2-AD35BA691394}" type="slidenum">
              <a:rPr lang="fr-FR" smtClean="0"/>
              <a:pPr/>
              <a:t>15</a:t>
            </a:fld>
            <a:endParaRPr lang="fr-FR" dirty="0"/>
          </a:p>
        </p:txBody>
      </p:sp>
      <p:pic>
        <p:nvPicPr>
          <p:cNvPr id="6" name="Image 5">
            <a:extLst>
              <a:ext uri="{FF2B5EF4-FFF2-40B4-BE49-F238E27FC236}">
                <a16:creationId xmlns:a16="http://schemas.microsoft.com/office/drawing/2014/main" id="{0623B07E-C6F1-85F5-86C2-F7064374D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555" y="394428"/>
            <a:ext cx="6700889" cy="4610037"/>
          </a:xfrm>
          <a:prstGeom prst="rect">
            <a:avLst/>
          </a:prstGeom>
        </p:spPr>
      </p:pic>
      <p:sp>
        <p:nvSpPr>
          <p:cNvPr id="4" name="Text Box 9">
            <a:extLst>
              <a:ext uri="{FF2B5EF4-FFF2-40B4-BE49-F238E27FC236}">
                <a16:creationId xmlns:a16="http://schemas.microsoft.com/office/drawing/2014/main" id="{2136322C-69B4-67F1-8D8C-7A87EA054AD7}"/>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2033149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texte, capture d’écran&#10;&#10;Le contenu généré par l’IA peut être incorrect.">
            <a:extLst>
              <a:ext uri="{FF2B5EF4-FFF2-40B4-BE49-F238E27FC236}">
                <a16:creationId xmlns:a16="http://schemas.microsoft.com/office/drawing/2014/main" id="{331FB942-8663-F0F7-D716-56A1E637049D}"/>
              </a:ext>
            </a:extLst>
          </p:cNvPr>
          <p:cNvPicPr>
            <a:picLocks noChangeAspect="1"/>
          </p:cNvPicPr>
          <p:nvPr/>
        </p:nvPicPr>
        <p:blipFill>
          <a:blip r:embed="rId2">
            <a:extLst>
              <a:ext uri="{28A0092B-C50C-407E-A947-70E740481C1C}">
                <a14:useLocalDpi xmlns:a14="http://schemas.microsoft.com/office/drawing/2010/main" val="0"/>
              </a:ext>
            </a:extLst>
          </a:blip>
          <a:srcRect r="47088" b="45474"/>
          <a:stretch/>
        </p:blipFill>
        <p:spPr>
          <a:xfrm>
            <a:off x="1651790" y="1830890"/>
            <a:ext cx="4838324" cy="2133850"/>
          </a:xfrm>
          <a:prstGeom prst="rect">
            <a:avLst/>
          </a:prstGeom>
        </p:spPr>
      </p:pic>
      <p:sp>
        <p:nvSpPr>
          <p:cNvPr id="2" name="Titre 1">
            <a:extLst>
              <a:ext uri="{FF2B5EF4-FFF2-40B4-BE49-F238E27FC236}">
                <a16:creationId xmlns:a16="http://schemas.microsoft.com/office/drawing/2014/main" id="{7E785505-7CB0-FD1C-DFE4-2FAF4768C7DF}"/>
              </a:ext>
            </a:extLst>
          </p:cNvPr>
          <p:cNvSpPr>
            <a:spLocks noGrp="1"/>
          </p:cNvSpPr>
          <p:nvPr>
            <p:ph type="title"/>
          </p:nvPr>
        </p:nvSpPr>
        <p:spPr/>
        <p:txBody>
          <a:bodyPr/>
          <a:lstStyle/>
          <a:p>
            <a:r>
              <a:rPr lang="fr-FR" i="1" dirty="0"/>
              <a:t>Chlamydomonas reinhardtii</a:t>
            </a:r>
          </a:p>
        </p:txBody>
      </p:sp>
      <p:sp>
        <p:nvSpPr>
          <p:cNvPr id="3" name="Espace réservé du numéro de diapositive 2">
            <a:extLst>
              <a:ext uri="{FF2B5EF4-FFF2-40B4-BE49-F238E27FC236}">
                <a16:creationId xmlns:a16="http://schemas.microsoft.com/office/drawing/2014/main" id="{6EEE4FAF-1BD0-CCE0-1C2F-B1229ECCF526}"/>
              </a:ext>
            </a:extLst>
          </p:cNvPr>
          <p:cNvSpPr>
            <a:spLocks noGrp="1"/>
          </p:cNvSpPr>
          <p:nvPr>
            <p:ph type="sldNum" sz="quarter" idx="12"/>
          </p:nvPr>
        </p:nvSpPr>
        <p:spPr/>
        <p:txBody>
          <a:bodyPr/>
          <a:lstStyle/>
          <a:p>
            <a:fld id="{E9791B11-EC80-479C-9EB2-AD35BA691394}" type="slidenum">
              <a:rPr lang="fr-FR" smtClean="0"/>
              <a:pPr/>
              <a:t>16</a:t>
            </a:fld>
            <a:endParaRPr lang="fr-FR" dirty="0"/>
          </a:p>
        </p:txBody>
      </p:sp>
      <p:sp>
        <p:nvSpPr>
          <p:cNvPr id="25" name="Rounded Rectangle 30">
            <a:extLst>
              <a:ext uri="{FF2B5EF4-FFF2-40B4-BE49-F238E27FC236}">
                <a16:creationId xmlns:a16="http://schemas.microsoft.com/office/drawing/2014/main" id="{E9907596-7645-4327-92ED-A5C36854B7DD}"/>
              </a:ext>
            </a:extLst>
          </p:cNvPr>
          <p:cNvSpPr/>
          <p:nvPr/>
        </p:nvSpPr>
        <p:spPr>
          <a:xfrm>
            <a:off x="3390614" y="541643"/>
            <a:ext cx="2006289" cy="213956"/>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i="1" dirty="0">
                <a:solidFill>
                  <a:schemeClr val="tx1"/>
                </a:solidFill>
                <a:latin typeface="Times New Roman" panose="02020603050405020304" pitchFamily="18" charset="0"/>
                <a:cs typeface="Times New Roman" panose="02020603050405020304" pitchFamily="18" charset="0"/>
              </a:rPr>
              <a:t>Chlamydomonas </a:t>
            </a:r>
            <a:r>
              <a:rPr lang="en-GB" sz="1200" b="1" i="1" dirty="0" err="1">
                <a:solidFill>
                  <a:schemeClr val="tx1"/>
                </a:solidFill>
                <a:latin typeface="Times New Roman" panose="02020603050405020304" pitchFamily="18" charset="0"/>
                <a:cs typeface="Times New Roman" panose="02020603050405020304" pitchFamily="18" charset="0"/>
              </a:rPr>
              <a:t>reinhardtii</a:t>
            </a:r>
            <a:endParaRPr lang="en-GB" sz="1200" b="1" i="1" dirty="0">
              <a:solidFill>
                <a:schemeClr val="tx1"/>
              </a:solidFill>
              <a:latin typeface="Times New Roman" panose="02020603050405020304" pitchFamily="18" charset="0"/>
              <a:cs typeface="Times New Roman" panose="02020603050405020304" pitchFamily="18" charset="0"/>
            </a:endParaRPr>
          </a:p>
        </p:txBody>
      </p:sp>
      <p:sp>
        <p:nvSpPr>
          <p:cNvPr id="28" name="Rounded Rectangle 30">
            <a:extLst>
              <a:ext uri="{FF2B5EF4-FFF2-40B4-BE49-F238E27FC236}">
                <a16:creationId xmlns:a16="http://schemas.microsoft.com/office/drawing/2014/main" id="{80379F85-308A-4C92-951D-ED6DE197FF66}"/>
              </a:ext>
            </a:extLst>
          </p:cNvPr>
          <p:cNvSpPr/>
          <p:nvPr/>
        </p:nvSpPr>
        <p:spPr>
          <a:xfrm>
            <a:off x="6512168" y="3288218"/>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rgbClr val="0000FF"/>
                </a:solidFill>
                <a:latin typeface="Times New Roman" panose="02020603050405020304" pitchFamily="18" charset="0"/>
                <a:cs typeface="Times New Roman" panose="02020603050405020304" pitchFamily="18" charset="0"/>
              </a:rPr>
              <a:t>Photosynthesis</a:t>
            </a:r>
            <a:endParaRPr lang="fr-FR" sz="1200" b="1" dirty="0">
              <a:solidFill>
                <a:srgbClr val="0000FF"/>
              </a:solidFill>
              <a:latin typeface="Times New Roman" panose="02020603050405020304" pitchFamily="18" charset="0"/>
              <a:cs typeface="Times New Roman" panose="02020603050405020304" pitchFamily="18" charset="0"/>
            </a:endParaRPr>
          </a:p>
        </p:txBody>
      </p:sp>
      <p:sp>
        <p:nvSpPr>
          <p:cNvPr id="29" name="Rounded Rectangle 30">
            <a:extLst>
              <a:ext uri="{FF2B5EF4-FFF2-40B4-BE49-F238E27FC236}">
                <a16:creationId xmlns:a16="http://schemas.microsoft.com/office/drawing/2014/main" id="{CB7A2FF6-149E-4531-A444-CF2E8FD372A7}"/>
              </a:ext>
            </a:extLst>
          </p:cNvPr>
          <p:cNvSpPr/>
          <p:nvPr/>
        </p:nvSpPr>
        <p:spPr>
          <a:xfrm>
            <a:off x="6512167" y="2797356"/>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rgbClr val="00B050"/>
                </a:solidFill>
                <a:latin typeface="Times New Roman" panose="02020603050405020304" pitchFamily="18" charset="0"/>
                <a:cs typeface="Times New Roman" panose="02020603050405020304" pitchFamily="18" charset="0"/>
              </a:rPr>
              <a:t>Phototaxis</a:t>
            </a:r>
            <a:endParaRPr lang="fr-FR" sz="1200" b="1" dirty="0">
              <a:solidFill>
                <a:srgbClr val="00B050"/>
              </a:solidFill>
              <a:latin typeface="Times New Roman" panose="02020603050405020304" pitchFamily="18" charset="0"/>
              <a:cs typeface="Times New Roman" panose="02020603050405020304" pitchFamily="18" charset="0"/>
            </a:endParaRPr>
          </a:p>
        </p:txBody>
      </p:sp>
      <p:sp>
        <p:nvSpPr>
          <p:cNvPr id="32" name="Rounded Rectangle 30">
            <a:extLst>
              <a:ext uri="{FF2B5EF4-FFF2-40B4-BE49-F238E27FC236}">
                <a16:creationId xmlns:a16="http://schemas.microsoft.com/office/drawing/2014/main" id="{BA9B9845-1703-4503-BBAC-F1CDDADE8D76}"/>
              </a:ext>
            </a:extLst>
          </p:cNvPr>
          <p:cNvSpPr/>
          <p:nvPr/>
        </p:nvSpPr>
        <p:spPr>
          <a:xfrm>
            <a:off x="6512166" y="2116733"/>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Swimming</a:t>
            </a:r>
            <a:endParaRPr lang="fr-FR" sz="1200" b="1" dirty="0">
              <a:solidFill>
                <a:schemeClr val="tx1"/>
              </a:solidFill>
              <a:latin typeface="Times New Roman" panose="02020603050405020304" pitchFamily="18" charset="0"/>
              <a:cs typeface="Times New Roman" panose="02020603050405020304" pitchFamily="18" charset="0"/>
            </a:endParaRPr>
          </a:p>
        </p:txBody>
      </p:sp>
      <p:sp>
        <p:nvSpPr>
          <p:cNvPr id="9" name="Text Box 9">
            <a:extLst>
              <a:ext uri="{FF2B5EF4-FFF2-40B4-BE49-F238E27FC236}">
                <a16:creationId xmlns:a16="http://schemas.microsoft.com/office/drawing/2014/main" id="{674C7B5D-A514-8F2E-90F5-6689B9805A32}"/>
              </a:ext>
            </a:extLst>
          </p:cNvPr>
          <p:cNvSpPr txBox="1">
            <a:spLocks noChangeArrowheads="1"/>
          </p:cNvSpPr>
          <p:nvPr/>
        </p:nvSpPr>
        <p:spPr bwMode="auto">
          <a:xfrm>
            <a:off x="451185" y="3954264"/>
            <a:ext cx="303801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The Science Magazine of the Max Planck Society, 2014</a:t>
            </a:r>
          </a:p>
        </p:txBody>
      </p:sp>
      <p:sp>
        <p:nvSpPr>
          <p:cNvPr id="10" name="Text Box 9">
            <a:extLst>
              <a:ext uri="{FF2B5EF4-FFF2-40B4-BE49-F238E27FC236}">
                <a16:creationId xmlns:a16="http://schemas.microsoft.com/office/drawing/2014/main" id="{D7FE0DB7-D962-A80A-6F43-F2FEDEEC6F2F}"/>
              </a:ext>
            </a:extLst>
          </p:cNvPr>
          <p:cNvSpPr txBox="1">
            <a:spLocks noChangeArrowheads="1"/>
          </p:cNvSpPr>
          <p:nvPr/>
        </p:nvSpPr>
        <p:spPr bwMode="auto">
          <a:xfrm>
            <a:off x="5194177" y="3946945"/>
            <a:ext cx="131799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N. </a:t>
            </a:r>
            <a:r>
              <a:rPr lang="en-US" altLang="fr-FR" sz="1000" i="1" dirty="0" err="1">
                <a:cs typeface="Times New Roman" panose="02020603050405020304" pitchFamily="18" charset="0"/>
              </a:rPr>
              <a:t>Farès</a:t>
            </a:r>
            <a:r>
              <a:rPr lang="en-US" altLang="fr-FR" sz="1000" i="1" dirty="0">
                <a:cs typeface="Times New Roman" panose="02020603050405020304" pitchFamily="18" charset="0"/>
              </a:rPr>
              <a:t>, </a:t>
            </a:r>
            <a:r>
              <a:rPr lang="en-US" altLang="fr-FR" sz="1000" i="1" dirty="0" err="1">
                <a:cs typeface="Times New Roman" panose="02020603050405020304" pitchFamily="18" charset="0"/>
              </a:rPr>
              <a:t>Thèse</a:t>
            </a:r>
            <a:r>
              <a:rPr lang="en-US" altLang="fr-FR" sz="1000" i="1" dirty="0">
                <a:cs typeface="Times New Roman" panose="02020603050405020304" pitchFamily="18" charset="0"/>
              </a:rPr>
              <a:t>, 2025</a:t>
            </a:r>
          </a:p>
        </p:txBody>
      </p:sp>
      <p:cxnSp>
        <p:nvCxnSpPr>
          <p:cNvPr id="8" name="Connecteur droit 7">
            <a:extLst>
              <a:ext uri="{FF2B5EF4-FFF2-40B4-BE49-F238E27FC236}">
                <a16:creationId xmlns:a16="http://schemas.microsoft.com/office/drawing/2014/main" id="{F2D94CAA-5779-B19A-832B-C9354AF1B615}"/>
              </a:ext>
            </a:extLst>
          </p:cNvPr>
          <p:cNvCxnSpPr>
            <a:cxnSpLocks/>
          </p:cNvCxnSpPr>
          <p:nvPr/>
        </p:nvCxnSpPr>
        <p:spPr>
          <a:xfrm>
            <a:off x="1824526" y="3802135"/>
            <a:ext cx="55289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 Box 9">
            <a:extLst>
              <a:ext uri="{FF2B5EF4-FFF2-40B4-BE49-F238E27FC236}">
                <a16:creationId xmlns:a16="http://schemas.microsoft.com/office/drawing/2014/main" id="{C8AED07F-4136-9DA3-0D6C-3AA2B0AC7C4C}"/>
              </a:ext>
            </a:extLst>
          </p:cNvPr>
          <p:cNvSpPr txBox="1">
            <a:spLocks noChangeArrowheads="1"/>
          </p:cNvSpPr>
          <p:nvPr/>
        </p:nvSpPr>
        <p:spPr bwMode="auto">
          <a:xfrm>
            <a:off x="1824526" y="3531211"/>
            <a:ext cx="48122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100" dirty="0">
                <a:solidFill>
                  <a:schemeClr val="bg1"/>
                </a:solidFill>
                <a:cs typeface="Times New Roman" panose="02020603050405020304" pitchFamily="18" charset="0"/>
              </a:rPr>
              <a:t>5 µm</a:t>
            </a:r>
          </a:p>
        </p:txBody>
      </p:sp>
      <p:sp>
        <p:nvSpPr>
          <p:cNvPr id="11" name="ZoneTexte 10">
            <a:extLst>
              <a:ext uri="{FF2B5EF4-FFF2-40B4-BE49-F238E27FC236}">
                <a16:creationId xmlns:a16="http://schemas.microsoft.com/office/drawing/2014/main" id="{6A6A3FCC-1B83-8041-735F-CE73734F6C3E}"/>
              </a:ext>
            </a:extLst>
          </p:cNvPr>
          <p:cNvSpPr txBox="1"/>
          <p:nvPr/>
        </p:nvSpPr>
        <p:spPr>
          <a:xfrm>
            <a:off x="3673187" y="769227"/>
            <a:ext cx="1425390" cy="276999"/>
          </a:xfrm>
          <a:prstGeom prst="rect">
            <a:avLst/>
          </a:prstGeom>
          <a:noFill/>
        </p:spPr>
        <p:txBody>
          <a:bodyPr wrap="none" rtlCol="0">
            <a:spAutoFit/>
          </a:bodyPr>
          <a:lstStyle/>
          <a:p>
            <a:r>
              <a:rPr lang="fr-FR" sz="1200" i="1" dirty="0"/>
              <a:t>[</a:t>
            </a:r>
            <a:r>
              <a:rPr lang="fr-FR" sz="1200" i="1" dirty="0" err="1"/>
              <a:t>klami</a:t>
            </a:r>
            <a:r>
              <a:rPr lang="fr-FR" sz="1200" i="1" dirty="0"/>
              <a:t>] for </a:t>
            </a:r>
            <a:r>
              <a:rPr lang="fr-FR" sz="1200" i="1" dirty="0" err="1"/>
              <a:t>intimists</a:t>
            </a:r>
            <a:endParaRPr lang="fr-FR" sz="1200" i="1" dirty="0"/>
          </a:p>
        </p:txBody>
      </p:sp>
      <p:sp>
        <p:nvSpPr>
          <p:cNvPr id="12" name="ZoneTexte 11">
            <a:extLst>
              <a:ext uri="{FF2B5EF4-FFF2-40B4-BE49-F238E27FC236}">
                <a16:creationId xmlns:a16="http://schemas.microsoft.com/office/drawing/2014/main" id="{3EEE02DD-7E41-D11B-F807-78AAF979DD62}"/>
              </a:ext>
            </a:extLst>
          </p:cNvPr>
          <p:cNvSpPr txBox="1"/>
          <p:nvPr/>
        </p:nvSpPr>
        <p:spPr>
          <a:xfrm>
            <a:off x="3801391" y="2047685"/>
            <a:ext cx="468398" cy="215444"/>
          </a:xfrm>
          <a:prstGeom prst="rect">
            <a:avLst/>
          </a:prstGeom>
          <a:solidFill>
            <a:schemeClr val="bg1"/>
          </a:solidFill>
        </p:spPr>
        <p:txBody>
          <a:bodyPr wrap="none" rtlCol="0">
            <a:spAutoFit/>
          </a:bodyPr>
          <a:lstStyle/>
          <a:p>
            <a:r>
              <a:rPr lang="fr-FR" sz="800" dirty="0" err="1">
                <a:latin typeface="Arial" panose="020B0604020202020204" pitchFamily="34" charset="0"/>
                <a:cs typeface="Arial" panose="020B0604020202020204" pitchFamily="34" charset="0"/>
              </a:rPr>
              <a:t>Cilium</a:t>
            </a:r>
            <a:endParaRPr lang="fr-FR"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070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D53D00-8BB8-8230-5D33-B251CFA4E0DD}"/>
              </a:ext>
            </a:extLst>
          </p:cNvPr>
          <p:cNvSpPr>
            <a:spLocks noGrp="1"/>
          </p:cNvSpPr>
          <p:nvPr>
            <p:ph type="title"/>
          </p:nvPr>
        </p:nvSpPr>
        <p:spPr/>
        <p:txBody>
          <a:bodyPr/>
          <a:lstStyle/>
          <a:p>
            <a:r>
              <a:rPr lang="fr-FR" dirty="0" err="1"/>
              <a:t>Practical</a:t>
            </a:r>
            <a:endParaRPr lang="en-GB" dirty="0"/>
          </a:p>
        </p:txBody>
      </p:sp>
      <p:sp>
        <p:nvSpPr>
          <p:cNvPr id="3" name="Espace réservé du numéro de diapositive 2">
            <a:extLst>
              <a:ext uri="{FF2B5EF4-FFF2-40B4-BE49-F238E27FC236}">
                <a16:creationId xmlns:a16="http://schemas.microsoft.com/office/drawing/2014/main" id="{168384A4-E264-6F65-4F46-CC18A2A6040B}"/>
              </a:ext>
            </a:extLst>
          </p:cNvPr>
          <p:cNvSpPr>
            <a:spLocks noGrp="1"/>
          </p:cNvSpPr>
          <p:nvPr>
            <p:ph type="sldNum" sz="quarter" idx="12"/>
          </p:nvPr>
        </p:nvSpPr>
        <p:spPr/>
        <p:txBody>
          <a:bodyPr/>
          <a:lstStyle/>
          <a:p>
            <a:fld id="{E9791B11-EC80-479C-9EB2-AD35BA691394}" type="slidenum">
              <a:rPr lang="fr-FR" smtClean="0"/>
              <a:pPr/>
              <a:t>17</a:t>
            </a:fld>
            <a:endParaRPr lang="fr-FR" dirty="0"/>
          </a:p>
        </p:txBody>
      </p:sp>
      <p:pic>
        <p:nvPicPr>
          <p:cNvPr id="1026" name="Image 1">
            <a:extLst>
              <a:ext uri="{FF2B5EF4-FFF2-40B4-BE49-F238E27FC236}">
                <a16:creationId xmlns:a16="http://schemas.microsoft.com/office/drawing/2014/main" id="{31B3D473-8FE5-C35E-7E0A-9DEAD8964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03" y="684211"/>
            <a:ext cx="2239741" cy="1669241"/>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 2">
            <a:extLst>
              <a:ext uri="{FF2B5EF4-FFF2-40B4-BE49-F238E27FC236}">
                <a16:creationId xmlns:a16="http://schemas.microsoft.com/office/drawing/2014/main" id="{BEA91004-D0D3-CF22-CCF6-30FB117EF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807" y="686710"/>
            <a:ext cx="4537107" cy="164042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1B66489E-285F-11DE-6937-599F9AAD4DA1}"/>
              </a:ext>
            </a:extLst>
          </p:cNvPr>
          <p:cNvPicPr>
            <a:picLocks noChangeAspect="1"/>
          </p:cNvPicPr>
          <p:nvPr/>
        </p:nvPicPr>
        <p:blipFill>
          <a:blip r:embed="rId4"/>
          <a:stretch>
            <a:fillRect/>
          </a:stretch>
        </p:blipFill>
        <p:spPr>
          <a:xfrm>
            <a:off x="5110336" y="2462682"/>
            <a:ext cx="3261927" cy="2399480"/>
          </a:xfrm>
          <a:prstGeom prst="rect">
            <a:avLst/>
          </a:prstGeom>
        </p:spPr>
      </p:pic>
      <p:sp>
        <p:nvSpPr>
          <p:cNvPr id="6" name="Rounded Rectangle 30">
            <a:extLst>
              <a:ext uri="{FF2B5EF4-FFF2-40B4-BE49-F238E27FC236}">
                <a16:creationId xmlns:a16="http://schemas.microsoft.com/office/drawing/2014/main" id="{90369589-4DE9-8705-F631-7CD14E265681}"/>
              </a:ext>
            </a:extLst>
          </p:cNvPr>
          <p:cNvSpPr/>
          <p:nvPr/>
        </p:nvSpPr>
        <p:spPr>
          <a:xfrm>
            <a:off x="1876343" y="2462682"/>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Microscopy</a:t>
            </a:r>
            <a:r>
              <a:rPr lang="fr-FR" sz="1200" b="1" dirty="0">
                <a:solidFill>
                  <a:schemeClr val="tx1"/>
                </a:solidFill>
                <a:latin typeface="Times New Roman" panose="02020603050405020304" pitchFamily="18" charset="0"/>
                <a:cs typeface="Times New Roman" panose="02020603050405020304" pitchFamily="18" charset="0"/>
              </a:rPr>
              <a:t> PAM</a:t>
            </a:r>
          </a:p>
        </p:txBody>
      </p:sp>
      <p:sp>
        <p:nvSpPr>
          <p:cNvPr id="7" name="Rounded Rectangle 30">
            <a:extLst>
              <a:ext uri="{FF2B5EF4-FFF2-40B4-BE49-F238E27FC236}">
                <a16:creationId xmlns:a16="http://schemas.microsoft.com/office/drawing/2014/main" id="{E1D5A740-83EF-61A5-0766-A2CF76CCC693}"/>
              </a:ext>
            </a:extLst>
          </p:cNvPr>
          <p:cNvSpPr/>
          <p:nvPr/>
        </p:nvSpPr>
        <p:spPr>
          <a:xfrm>
            <a:off x="3642974" y="3461505"/>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PhytoPAM</a:t>
            </a:r>
            <a:r>
              <a:rPr lang="fr-FR" sz="1200" b="1" dirty="0">
                <a:solidFill>
                  <a:schemeClr val="tx1"/>
                </a:solidFill>
                <a:latin typeface="Times New Roman" panose="02020603050405020304" pitchFamily="18" charset="0"/>
                <a:cs typeface="Times New Roman" panose="02020603050405020304" pitchFamily="18" charset="0"/>
              </a:rPr>
              <a:t> ED</a:t>
            </a:r>
          </a:p>
        </p:txBody>
      </p:sp>
      <p:sp>
        <p:nvSpPr>
          <p:cNvPr id="4" name="ZoneTexte 3">
            <a:extLst>
              <a:ext uri="{FF2B5EF4-FFF2-40B4-BE49-F238E27FC236}">
                <a16:creationId xmlns:a16="http://schemas.microsoft.com/office/drawing/2014/main" id="{24696B9E-5040-F3D2-2B72-F45CE2E01655}"/>
              </a:ext>
            </a:extLst>
          </p:cNvPr>
          <p:cNvSpPr txBox="1"/>
          <p:nvPr/>
        </p:nvSpPr>
        <p:spPr>
          <a:xfrm>
            <a:off x="1533690" y="4182950"/>
            <a:ext cx="1210588" cy="646331"/>
          </a:xfrm>
          <a:prstGeom prst="rect">
            <a:avLst/>
          </a:prstGeom>
          <a:noFill/>
        </p:spPr>
        <p:txBody>
          <a:bodyPr wrap="none" rtlCol="0">
            <a:spAutoFit/>
          </a:bodyPr>
          <a:lstStyle/>
          <a:p>
            <a:r>
              <a:rPr lang="fr-FR" sz="3600" dirty="0">
                <a:solidFill>
                  <a:schemeClr val="accent1"/>
                </a:solidFill>
              </a:rPr>
              <a:t>Q&amp;A</a:t>
            </a:r>
            <a:endParaRPr lang="en-GB" sz="3600" dirty="0">
              <a:solidFill>
                <a:schemeClr val="accent1"/>
              </a:solidFill>
            </a:endParaRPr>
          </a:p>
        </p:txBody>
      </p:sp>
      <p:sp>
        <p:nvSpPr>
          <p:cNvPr id="8" name="ZoneTexte 7">
            <a:extLst>
              <a:ext uri="{FF2B5EF4-FFF2-40B4-BE49-F238E27FC236}">
                <a16:creationId xmlns:a16="http://schemas.microsoft.com/office/drawing/2014/main" id="{0AC7C630-CC90-D5F2-BB64-5C1835A1947B}"/>
              </a:ext>
            </a:extLst>
          </p:cNvPr>
          <p:cNvSpPr txBox="1"/>
          <p:nvPr/>
        </p:nvSpPr>
        <p:spPr>
          <a:xfrm>
            <a:off x="988028" y="2999840"/>
            <a:ext cx="2301912" cy="923330"/>
          </a:xfrm>
          <a:prstGeom prst="rect">
            <a:avLst/>
          </a:prstGeom>
          <a:noFill/>
        </p:spPr>
        <p:txBody>
          <a:bodyPr wrap="none" rtlCol="0">
            <a:spAutoFit/>
          </a:bodyPr>
          <a:lstStyle/>
          <a:p>
            <a:pPr algn="ctr"/>
            <a:r>
              <a:rPr lang="fr-FR" dirty="0"/>
              <a:t>Split in 2 groups</a:t>
            </a:r>
          </a:p>
          <a:p>
            <a:pPr algn="ctr"/>
            <a:r>
              <a:rPr lang="fr-FR" dirty="0"/>
              <a:t>~1h30 </a:t>
            </a:r>
            <a:r>
              <a:rPr lang="fr-FR" dirty="0" err="1"/>
              <a:t>with</a:t>
            </a:r>
            <a:r>
              <a:rPr lang="fr-FR" dirty="0"/>
              <a:t> µPAM</a:t>
            </a:r>
          </a:p>
          <a:p>
            <a:pPr algn="ctr"/>
            <a:r>
              <a:rPr lang="fr-FR" dirty="0"/>
              <a:t>~1h30 </a:t>
            </a:r>
            <a:r>
              <a:rPr lang="fr-FR" dirty="0" err="1"/>
              <a:t>with</a:t>
            </a:r>
            <a:r>
              <a:rPr lang="fr-FR" dirty="0"/>
              <a:t> </a:t>
            </a:r>
            <a:r>
              <a:rPr lang="fr-FR" dirty="0" err="1"/>
              <a:t>phytoPAM</a:t>
            </a:r>
            <a:endParaRPr lang="en-GB" dirty="0"/>
          </a:p>
        </p:txBody>
      </p:sp>
    </p:spTree>
    <p:extLst>
      <p:ext uri="{BB962C8B-B14F-4D97-AF65-F5344CB8AC3E}">
        <p14:creationId xmlns:p14="http://schemas.microsoft.com/office/powerpoint/2010/main" val="2734068782"/>
      </p:ext>
    </p:extLst>
  </p:cSld>
  <p:clrMapOvr>
    <a:masterClrMapping/>
  </p:clrMapOvr>
</p:sld>
</file>

<file path=ppt/theme/theme1.xml><?xml version="1.0" encoding="utf-8"?>
<a:theme xmlns:a="http://schemas.openxmlformats.org/drawingml/2006/main" name="Thème conférenc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Personnalisé 1">
      <a:majorFont>
        <a:latin typeface="Times New Roman"/>
        <a:ea typeface=""/>
        <a:cs typeface=""/>
      </a:majorFont>
      <a:minorFont>
        <a:latin typeface="Times New Roman"/>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4455</TotalTime>
  <Words>677</Words>
  <Application>Microsoft Office PowerPoint</Application>
  <PresentationFormat>Affichage à l'écran (16:9)</PresentationFormat>
  <Paragraphs>165</Paragraphs>
  <Slides>17</Slides>
  <Notes>3</Notes>
  <HiddenSlides>0</HiddenSlides>
  <MMClips>1</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17</vt:i4>
      </vt:variant>
    </vt:vector>
  </HeadingPairs>
  <TitlesOfParts>
    <vt:vector size="22" baseType="lpstr">
      <vt:lpstr>Arial</vt:lpstr>
      <vt:lpstr>Calibri</vt:lpstr>
      <vt:lpstr>Cambria Math</vt:lpstr>
      <vt:lpstr>Times New Roman</vt:lpstr>
      <vt:lpstr>Thème conférence</vt:lpstr>
      <vt:lpstr>Photosynthesis and Chlorophyll Fluorescence: Principles, Regulation, and PAM Fluorometry</vt:lpstr>
      <vt:lpstr>Photosynthetic organisms</vt:lpstr>
      <vt:lpstr>Photosynthesis in (too) brief</vt:lpstr>
      <vt:lpstr>Light reaction</vt:lpstr>
      <vt:lpstr>Chloroplast</vt:lpstr>
      <vt:lpstr>The photosynthetic system</vt:lpstr>
      <vt:lpstr>The basis of photosynthesis</vt:lpstr>
      <vt:lpstr>Fluorescence from dark-adapted cells</vt:lpstr>
      <vt:lpstr>Fluorescence from light-adapted cells</vt:lpstr>
      <vt:lpstr>Pulse Amplitude Modulation: demonstration</vt:lpstr>
      <vt:lpstr>Pulse Amplitude Modulation: fluorescence</vt:lpstr>
      <vt:lpstr>Pulse Amplitude Modulation: inside the machine</vt:lpstr>
      <vt:lpstr>Pulse Amplitude Modulation: inside the machine</vt:lpstr>
      <vt:lpstr>Protocol for quenching analysing</vt:lpstr>
      <vt:lpstr>Response of photosystem II</vt:lpstr>
      <vt:lpstr>Chlamydomonas reinhardtii</vt:lpstr>
      <vt:lpstr>Practical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Antoine Allard</dc:creator>
  <cp:lastModifiedBy>ludovic jami</cp:lastModifiedBy>
  <cp:revision>216</cp:revision>
  <dcterms:created xsi:type="dcterms:W3CDTF">2022-09-26T12:51:44Z</dcterms:created>
  <dcterms:modified xsi:type="dcterms:W3CDTF">2026-06-08T08:55:00Z</dcterms:modified>
</cp:coreProperties>
</file>